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394960"/>
            <a:ext cx="12191695" cy="1463040"/>
          </a:xfrm>
          <a:prstGeom prst="rect">
            <a:avLst/>
          </a:prstGeom>
          <a:solidFill>
            <a:srgbClr val="1E4A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972800" cy="365760"/>
          </a:xfrm>
          <a:prstGeom prst="rect">
            <a:avLst/>
          </a:prstGeom>
          <a:noFill/>
        </p:spPr>
        <p:txBody>
          <a:bodyPr wrap="square"/>
          <a:lstStyle/>
          <a:p>
            <a:pPr algn="l">
              <a:spcBef>
                <a:spcPts val="0"/>
              </a:spcBef>
              <a:spcAft>
                <a:spcPts val="0"/>
              </a:spcAft>
            </a:pPr>
            <a:r>
              <a:rPr sz="1600" b="0">
                <a:solidFill>
                  <a:srgbClr val="C4D4E6"/>
                </a:solidFill>
                <a:latin typeface="WenQuanYi Micro Hei"/>
                <a:ea typeface="WenQuanYi Micro Hei"/>
                <a:cs typeface="WenQuanYi Micro Hei"/>
              </a:rPr>
              <a:t>CNS 三大主刊 ｜ 2026 年 10 月 15 日当周</a:t>
            </a:r>
          </a:p>
        </p:txBody>
      </p:sp>
      <p:sp>
        <p:nvSpPr>
          <p:cNvPr id="5" name="TextBox 4"/>
          <p:cNvSpPr txBox="1"/>
          <p:nvPr/>
        </p:nvSpPr>
        <p:spPr>
          <a:xfrm>
            <a:off x="640080" y="1874519"/>
            <a:ext cx="10972800" cy="1188720"/>
          </a:xfrm>
          <a:prstGeom prst="rect">
            <a:avLst/>
          </a:prstGeom>
          <a:noFill/>
        </p:spPr>
        <p:txBody>
          <a:bodyPr wrap="square"/>
          <a:lstStyle/>
          <a:p>
            <a:pPr algn="l">
              <a:spcBef>
                <a:spcPts val="0"/>
              </a:spcBef>
              <a:spcAft>
                <a:spcPts val="0"/>
              </a:spcAft>
            </a:pPr>
            <a:r>
              <a:rPr sz="4000" b="1">
                <a:solidFill>
                  <a:srgbClr val="FFFFFF"/>
                </a:solidFill>
                <a:latin typeface="WenQuanYi Micro Hei"/>
                <a:ea typeface="WenQuanYi Micro Hei"/>
                <a:cs typeface="WenQuanYi Micro Hei"/>
              </a:rPr>
              <a:t>生物医学文献汇报</a:t>
            </a:r>
          </a:p>
        </p:txBody>
      </p:sp>
      <p:sp>
        <p:nvSpPr>
          <p:cNvPr id="6" name="TextBox 5"/>
          <p:cNvSpPr txBox="1"/>
          <p:nvPr/>
        </p:nvSpPr>
        <p:spPr>
          <a:xfrm>
            <a:off x="640080" y="3108960"/>
            <a:ext cx="10972800" cy="1097280"/>
          </a:xfrm>
          <a:prstGeom prst="rect">
            <a:avLst/>
          </a:prstGeom>
          <a:noFill/>
        </p:spPr>
        <p:txBody>
          <a:bodyPr wrap="square"/>
          <a:lstStyle/>
          <a:p>
            <a:pPr algn="l">
              <a:spcBef>
                <a:spcPts val="0"/>
              </a:spcBef>
              <a:spcAft>
                <a:spcPts val="0"/>
              </a:spcAft>
            </a:pPr>
            <a:r>
              <a:rPr sz="1800" b="0">
                <a:solidFill>
                  <a:srgbClr val="E8EEF4"/>
                </a:solidFill>
                <a:latin typeface="WenQuanYi Micro Hei"/>
                <a:ea typeface="WenQuanYi Micro Hei"/>
                <a:cs typeface="WenQuanYi Micro Hei"/>
              </a:rPr>
              <a:t>12 篇研究论文  ·  一文一页  ·  问题 / 工作 / 结论 + 主图</a:t>
            </a:r>
          </a:p>
        </p:txBody>
      </p:sp>
      <p:sp>
        <p:nvSpPr>
          <p:cNvPr id="7" name="TextBox 6"/>
          <p:cNvSpPr txBox="1"/>
          <p:nvPr/>
        </p:nvSpPr>
        <p:spPr>
          <a:xfrm>
            <a:off x="640080" y="5623560"/>
            <a:ext cx="10972800" cy="1005840"/>
          </a:xfrm>
          <a:prstGeom prst="rect">
            <a:avLst/>
          </a:prstGeom>
          <a:noFill/>
        </p:spPr>
        <p:txBody>
          <a:bodyPr wrap="square"/>
          <a:lstStyle/>
          <a:p>
            <a:pPr algn="l">
              <a:spcBef>
                <a:spcPts val="0"/>
              </a:spcBef>
              <a:spcAft>
                <a:spcPts val="0"/>
              </a:spcAft>
            </a:pPr>
            <a:r>
              <a:rPr sz="1300" b="0">
                <a:solidFill>
                  <a:srgbClr val="C4D4E6"/>
                </a:solidFill>
                <a:latin typeface="WenQuanYi Micro Hei"/>
                <a:ea typeface="WenQuanYi Micro Hei"/>
                <a:cs typeface="WenQuanYi Micro Hei"/>
              </a:rPr>
              <a:t>Cell  Vol.189 Issue 21    Nature  Vol.658 Issue 8136    Science  Vol.394 Issue 6821
范围：研究论文（Article）。主图优先采用 Graphical Abstract 或 Figure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77240"/>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64592"/>
            <a:ext cx="10972800" cy="457200"/>
          </a:xfrm>
          <a:prstGeom prst="rect">
            <a:avLst/>
          </a:prstGeom>
          <a:noFill/>
        </p:spPr>
        <p:txBody>
          <a:bodyPr wrap="square"/>
          <a:lstStyle/>
          <a:p>
            <a:pPr algn="l">
              <a:spcBef>
                <a:spcPts val="0"/>
              </a:spcBef>
              <a:spcAft>
                <a:spcPts val="0"/>
              </a:spcAft>
            </a:pPr>
            <a:r>
              <a:rPr sz="2200" b="1">
                <a:solidFill>
                  <a:srgbClr val="FFFFFF"/>
                </a:solidFill>
                <a:latin typeface="WenQuanYi Micro Hei"/>
                <a:ea typeface="WenQuanYi Micro Hei"/>
                <a:cs typeface="WenQuanYi Micro Hei"/>
              </a:rPr>
              <a:t>目录  ·  12 篇一文一页</a:t>
            </a:r>
          </a:p>
        </p:txBody>
      </p:sp>
      <p:sp>
        <p:nvSpPr>
          <p:cNvPr id="5" name="TextBox 4"/>
          <p:cNvSpPr txBox="1"/>
          <p:nvPr/>
        </p:nvSpPr>
        <p:spPr>
          <a:xfrm>
            <a:off x="457200" y="960120"/>
            <a:ext cx="10972800" cy="292608"/>
          </a:xfrm>
          <a:prstGeom prst="rect">
            <a:avLst/>
          </a:prstGeom>
          <a:noFill/>
        </p:spPr>
        <p:txBody>
          <a:bodyPr wrap="square"/>
          <a:lstStyle/>
          <a:p>
            <a:pPr algn="l">
              <a:spcBef>
                <a:spcPts val="0"/>
              </a:spcBef>
              <a:spcAft>
                <a:spcPts val="0"/>
              </a:spcAft>
            </a:pPr>
            <a:r>
              <a:rPr sz="1400" b="1">
                <a:solidFill>
                  <a:srgbClr val="008BC7"/>
                </a:solidFill>
                <a:latin typeface="WenQuanYi Micro Hei"/>
                <a:ea typeface="WenQuanYi Micro Hei"/>
                <a:cs typeface="WenQuanYi Micro Hei"/>
              </a:rPr>
              <a:t>你点名的 3 篇</a:t>
            </a:r>
          </a:p>
        </p:txBody>
      </p:sp>
      <p:sp>
        <p:nvSpPr>
          <p:cNvPr id="6" name="Rounded Rectangle 5"/>
          <p:cNvSpPr/>
          <p:nvPr/>
        </p:nvSpPr>
        <p:spPr>
          <a:xfrm>
            <a:off x="457200" y="1271016"/>
            <a:ext cx="384048" cy="292608"/>
          </a:xfrm>
          <a:prstGeom prst="roundRect">
            <a:avLst>
              <a:gd name="adj" fmla="val 12000"/>
            </a:avLst>
          </a:prstGeom>
          <a:solidFill>
            <a:srgbClr val="008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271016"/>
            <a:ext cx="384048" cy="292608"/>
          </a:xfrm>
          <a:prstGeom prst="rect">
            <a:avLst/>
          </a:prstGeom>
          <a:noFill/>
        </p:spPr>
        <p:txBody>
          <a:bodyPr wrap="square"/>
          <a:lstStyle/>
          <a:p>
            <a:pPr algn="ctr">
              <a:spcBef>
                <a:spcPts val="0"/>
              </a:spcBef>
              <a:spcAft>
                <a:spcPts val="0"/>
              </a:spcAft>
            </a:pPr>
            <a:r>
              <a:rPr sz="1100" b="1">
                <a:solidFill>
                  <a:srgbClr val="FFFFFF"/>
                </a:solidFill>
                <a:latin typeface="WenQuanYi Micro Hei"/>
                <a:ea typeface="WenQuanYi Micro Hei"/>
                <a:cs typeface="WenQuanYi Micro Hei"/>
              </a:rPr>
              <a:t>01</a:t>
            </a:r>
          </a:p>
        </p:txBody>
      </p:sp>
      <p:sp>
        <p:nvSpPr>
          <p:cNvPr id="8" name="TextBox 7"/>
          <p:cNvSpPr txBox="1"/>
          <p:nvPr/>
        </p:nvSpPr>
        <p:spPr>
          <a:xfrm>
            <a:off x="960120" y="1271016"/>
            <a:ext cx="10698480" cy="29260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[Cell]  用蛋白降解驱动比例型转录激活，把“蛋白变少”变成可筛选信号</a:t>
            </a:r>
          </a:p>
        </p:txBody>
      </p:sp>
      <p:sp>
        <p:nvSpPr>
          <p:cNvPr id="9" name="Rounded Rectangle 8"/>
          <p:cNvSpPr/>
          <p:nvPr/>
        </p:nvSpPr>
        <p:spPr>
          <a:xfrm>
            <a:off x="457200" y="1600200"/>
            <a:ext cx="384048" cy="292608"/>
          </a:xfrm>
          <a:prstGeom prst="roundRect">
            <a:avLst>
              <a:gd name="adj" fmla="val 12000"/>
            </a:avLst>
          </a:prstGeom>
          <a:solidFill>
            <a:srgbClr val="008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600200"/>
            <a:ext cx="384048" cy="292608"/>
          </a:xfrm>
          <a:prstGeom prst="rect">
            <a:avLst/>
          </a:prstGeom>
          <a:noFill/>
        </p:spPr>
        <p:txBody>
          <a:bodyPr wrap="square"/>
          <a:lstStyle/>
          <a:p>
            <a:pPr algn="ctr">
              <a:spcBef>
                <a:spcPts val="0"/>
              </a:spcBef>
              <a:spcAft>
                <a:spcPts val="0"/>
              </a:spcAft>
            </a:pPr>
            <a:r>
              <a:rPr sz="1100" b="1">
                <a:solidFill>
                  <a:srgbClr val="FFFFFF"/>
                </a:solidFill>
                <a:latin typeface="WenQuanYi Micro Hei"/>
                <a:ea typeface="WenQuanYi Micro Hei"/>
                <a:cs typeface="WenQuanYi Micro Hei"/>
              </a:rPr>
              <a:t>02</a:t>
            </a:r>
          </a:p>
        </p:txBody>
      </p:sp>
      <p:sp>
        <p:nvSpPr>
          <p:cNvPr id="11" name="TextBox 10"/>
          <p:cNvSpPr txBox="1"/>
          <p:nvPr/>
        </p:nvSpPr>
        <p:spPr>
          <a:xfrm>
            <a:off x="960120" y="1600200"/>
            <a:ext cx="10698480" cy="29260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[Cell]  雌激素重编程 STING，促使 NET“功能性抗原屏蔽”，造成 ADC 的女性偏倚耐药</a:t>
            </a:r>
          </a:p>
        </p:txBody>
      </p:sp>
      <p:sp>
        <p:nvSpPr>
          <p:cNvPr id="12" name="Rounded Rectangle 11"/>
          <p:cNvSpPr/>
          <p:nvPr/>
        </p:nvSpPr>
        <p:spPr>
          <a:xfrm>
            <a:off x="457200" y="1929384"/>
            <a:ext cx="384048" cy="292608"/>
          </a:xfrm>
          <a:prstGeom prst="roundRect">
            <a:avLst>
              <a:gd name="adj" fmla="val 12000"/>
            </a:avLst>
          </a:prstGeom>
          <a:solidFill>
            <a:srgbClr val="008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929384"/>
            <a:ext cx="384048" cy="292608"/>
          </a:xfrm>
          <a:prstGeom prst="rect">
            <a:avLst/>
          </a:prstGeom>
          <a:noFill/>
        </p:spPr>
        <p:txBody>
          <a:bodyPr wrap="square"/>
          <a:lstStyle/>
          <a:p>
            <a:pPr algn="ctr">
              <a:spcBef>
                <a:spcPts val="0"/>
              </a:spcBef>
              <a:spcAft>
                <a:spcPts val="0"/>
              </a:spcAft>
            </a:pPr>
            <a:r>
              <a:rPr sz="1100" b="1">
                <a:solidFill>
                  <a:srgbClr val="FFFFFF"/>
                </a:solidFill>
                <a:latin typeface="WenQuanYi Micro Hei"/>
                <a:ea typeface="WenQuanYi Micro Hei"/>
                <a:cs typeface="WenQuanYi Micro Hei"/>
              </a:rPr>
              <a:t>03</a:t>
            </a:r>
          </a:p>
        </p:txBody>
      </p:sp>
      <p:sp>
        <p:nvSpPr>
          <p:cNvPr id="14" name="TextBox 13"/>
          <p:cNvSpPr txBox="1"/>
          <p:nvPr/>
        </p:nvSpPr>
        <p:spPr>
          <a:xfrm>
            <a:off x="960120" y="1929384"/>
            <a:ext cx="10698480" cy="29260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[Cell]  B 细胞“征用”古老 LINE-1，借助 HUSH 把 AID 精确带到 VH 基因</a:t>
            </a:r>
          </a:p>
        </p:txBody>
      </p:sp>
      <p:sp>
        <p:nvSpPr>
          <p:cNvPr id="15" name="TextBox 14"/>
          <p:cNvSpPr txBox="1"/>
          <p:nvPr/>
        </p:nvSpPr>
        <p:spPr>
          <a:xfrm>
            <a:off x="457200" y="2331720"/>
            <a:ext cx="10972800" cy="292608"/>
          </a:xfrm>
          <a:prstGeom prst="rect">
            <a:avLst/>
          </a:prstGeom>
          <a:noFill/>
        </p:spPr>
        <p:txBody>
          <a:bodyPr wrap="square"/>
          <a:lstStyle/>
          <a:p>
            <a:pPr algn="l">
              <a:spcBef>
                <a:spcPts val="0"/>
              </a:spcBef>
              <a:spcAft>
                <a:spcPts val="0"/>
              </a:spcAft>
            </a:pPr>
            <a:r>
              <a:rPr sz="1400" b="1">
                <a:solidFill>
                  <a:srgbClr val="C41E3A"/>
                </a:solidFill>
                <a:latin typeface="WenQuanYi Micro Hei"/>
                <a:ea typeface="WenQuanYi Micro Hei"/>
                <a:cs typeface="WenQuanYi Micro Hei"/>
              </a:rPr>
              <a:t>较高相关 5 篇（递送 / NDD 窗口 / 皮层发育）</a:t>
            </a:r>
          </a:p>
        </p:txBody>
      </p:sp>
      <p:sp>
        <p:nvSpPr>
          <p:cNvPr id="16" name="Rounded Rectangle 15"/>
          <p:cNvSpPr/>
          <p:nvPr/>
        </p:nvSpPr>
        <p:spPr>
          <a:xfrm>
            <a:off x="457200" y="2642616"/>
            <a:ext cx="384048" cy="292608"/>
          </a:xfrm>
          <a:prstGeom prst="roundRect">
            <a:avLst>
              <a:gd name="adj" fmla="val 12000"/>
            </a:avLst>
          </a:prstGeom>
          <a:solidFill>
            <a:srgbClr val="C41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642616"/>
            <a:ext cx="384048" cy="292608"/>
          </a:xfrm>
          <a:prstGeom prst="rect">
            <a:avLst/>
          </a:prstGeom>
          <a:noFill/>
        </p:spPr>
        <p:txBody>
          <a:bodyPr wrap="square"/>
          <a:lstStyle/>
          <a:p>
            <a:pPr algn="ctr">
              <a:spcBef>
                <a:spcPts val="0"/>
              </a:spcBef>
              <a:spcAft>
                <a:spcPts val="0"/>
              </a:spcAft>
            </a:pPr>
            <a:r>
              <a:rPr sz="1100" b="1">
                <a:solidFill>
                  <a:srgbClr val="FFFFFF"/>
                </a:solidFill>
                <a:latin typeface="WenQuanYi Micro Hei"/>
                <a:ea typeface="WenQuanYi Micro Hei"/>
                <a:cs typeface="WenQuanYi Micro Hei"/>
              </a:rPr>
              <a:t>04</a:t>
            </a:r>
          </a:p>
        </p:txBody>
      </p:sp>
      <p:sp>
        <p:nvSpPr>
          <p:cNvPr id="18" name="TextBox 17"/>
          <p:cNvSpPr txBox="1"/>
          <p:nvPr/>
        </p:nvSpPr>
        <p:spPr>
          <a:xfrm>
            <a:off x="960120" y="2642616"/>
            <a:ext cx="10698480" cy="29260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[Nature]  AI 设计合成蛋白组装体，做成比病毒/LNP 更强的 RNA 递送载具</a:t>
            </a:r>
          </a:p>
        </p:txBody>
      </p:sp>
      <p:sp>
        <p:nvSpPr>
          <p:cNvPr id="19" name="Rounded Rectangle 18"/>
          <p:cNvSpPr/>
          <p:nvPr/>
        </p:nvSpPr>
        <p:spPr>
          <a:xfrm>
            <a:off x="457200" y="2971800"/>
            <a:ext cx="384048" cy="292608"/>
          </a:xfrm>
          <a:prstGeom prst="roundRect">
            <a:avLst>
              <a:gd name="adj" fmla="val 12000"/>
            </a:avLst>
          </a:prstGeom>
          <a:solidFill>
            <a:srgbClr val="C41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971800"/>
            <a:ext cx="384048" cy="292608"/>
          </a:xfrm>
          <a:prstGeom prst="rect">
            <a:avLst/>
          </a:prstGeom>
          <a:noFill/>
        </p:spPr>
        <p:txBody>
          <a:bodyPr wrap="square"/>
          <a:lstStyle/>
          <a:p>
            <a:pPr algn="ctr">
              <a:spcBef>
                <a:spcPts val="0"/>
              </a:spcBef>
              <a:spcAft>
                <a:spcPts val="0"/>
              </a:spcAft>
            </a:pPr>
            <a:r>
              <a:rPr sz="1100" b="1">
                <a:solidFill>
                  <a:srgbClr val="FFFFFF"/>
                </a:solidFill>
                <a:latin typeface="WenQuanYi Micro Hei"/>
                <a:ea typeface="WenQuanYi Micro Hei"/>
                <a:cs typeface="WenQuanYi Micro Hei"/>
              </a:rPr>
              <a:t>05</a:t>
            </a:r>
          </a:p>
        </p:txBody>
      </p:sp>
      <p:sp>
        <p:nvSpPr>
          <p:cNvPr id="21" name="TextBox 20"/>
          <p:cNvSpPr txBox="1"/>
          <p:nvPr/>
        </p:nvSpPr>
        <p:spPr>
          <a:xfrm>
            <a:off x="960120" y="2971800"/>
            <a:ext cx="10698480" cy="29260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[Nature]  Binding-to-release：结合口袋里就裂解，靶向递药不再依赖内吞</a:t>
            </a:r>
          </a:p>
        </p:txBody>
      </p:sp>
      <p:sp>
        <p:nvSpPr>
          <p:cNvPr id="22" name="Rounded Rectangle 21"/>
          <p:cNvSpPr/>
          <p:nvPr/>
        </p:nvSpPr>
        <p:spPr>
          <a:xfrm>
            <a:off x="457200" y="3300984"/>
            <a:ext cx="384048" cy="292608"/>
          </a:xfrm>
          <a:prstGeom prst="roundRect">
            <a:avLst>
              <a:gd name="adj" fmla="val 12000"/>
            </a:avLst>
          </a:prstGeom>
          <a:solidFill>
            <a:srgbClr val="C41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3300984"/>
            <a:ext cx="384048" cy="292608"/>
          </a:xfrm>
          <a:prstGeom prst="rect">
            <a:avLst/>
          </a:prstGeom>
          <a:noFill/>
        </p:spPr>
        <p:txBody>
          <a:bodyPr wrap="square"/>
          <a:lstStyle/>
          <a:p>
            <a:pPr algn="ctr">
              <a:spcBef>
                <a:spcPts val="0"/>
              </a:spcBef>
              <a:spcAft>
                <a:spcPts val="0"/>
              </a:spcAft>
            </a:pPr>
            <a:r>
              <a:rPr sz="1100" b="1">
                <a:solidFill>
                  <a:srgbClr val="FFFFFF"/>
                </a:solidFill>
                <a:latin typeface="WenQuanYi Micro Hei"/>
                <a:ea typeface="WenQuanYi Micro Hei"/>
                <a:cs typeface="WenQuanYi Micro Hei"/>
              </a:rPr>
              <a:t>06</a:t>
            </a:r>
          </a:p>
        </p:txBody>
      </p:sp>
      <p:sp>
        <p:nvSpPr>
          <p:cNvPr id="24" name="TextBox 23"/>
          <p:cNvSpPr txBox="1"/>
          <p:nvPr/>
        </p:nvSpPr>
        <p:spPr>
          <a:xfrm>
            <a:off x="960120" y="3300984"/>
            <a:ext cx="10698480" cy="29260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[Nature]  成体恢复海马 PV 中间神经元可塑性，可逆转神经发育障碍的认知与癫痫表型</a:t>
            </a:r>
          </a:p>
        </p:txBody>
      </p:sp>
      <p:sp>
        <p:nvSpPr>
          <p:cNvPr id="25" name="Rounded Rectangle 24"/>
          <p:cNvSpPr/>
          <p:nvPr/>
        </p:nvSpPr>
        <p:spPr>
          <a:xfrm>
            <a:off x="457200" y="3630168"/>
            <a:ext cx="384048" cy="292608"/>
          </a:xfrm>
          <a:prstGeom prst="roundRect">
            <a:avLst>
              <a:gd name="adj" fmla="val 12000"/>
            </a:avLst>
          </a:prstGeom>
          <a:solidFill>
            <a:srgbClr val="C41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3630168"/>
            <a:ext cx="384048" cy="292608"/>
          </a:xfrm>
          <a:prstGeom prst="rect">
            <a:avLst/>
          </a:prstGeom>
          <a:noFill/>
        </p:spPr>
        <p:txBody>
          <a:bodyPr wrap="square"/>
          <a:lstStyle/>
          <a:p>
            <a:pPr algn="ctr">
              <a:spcBef>
                <a:spcPts val="0"/>
              </a:spcBef>
              <a:spcAft>
                <a:spcPts val="0"/>
              </a:spcAft>
            </a:pPr>
            <a:r>
              <a:rPr sz="1100" b="1">
                <a:solidFill>
                  <a:srgbClr val="FFFFFF"/>
                </a:solidFill>
                <a:latin typeface="WenQuanYi Micro Hei"/>
                <a:ea typeface="WenQuanYi Micro Hei"/>
                <a:cs typeface="WenQuanYi Micro Hei"/>
              </a:rPr>
              <a:t>07</a:t>
            </a:r>
          </a:p>
        </p:txBody>
      </p:sp>
      <p:sp>
        <p:nvSpPr>
          <p:cNvPr id="27" name="TextBox 26"/>
          <p:cNvSpPr txBox="1"/>
          <p:nvPr/>
        </p:nvSpPr>
        <p:spPr>
          <a:xfrm>
            <a:off x="960120" y="3630168"/>
            <a:ext cx="10698480" cy="29260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[Nature]  皮层类器官里放射状胶质细胞“会报时、不会报分”：谱系时序与体内脱钩</a:t>
            </a:r>
          </a:p>
        </p:txBody>
      </p:sp>
      <p:sp>
        <p:nvSpPr>
          <p:cNvPr id="28" name="Rounded Rectangle 27"/>
          <p:cNvSpPr/>
          <p:nvPr/>
        </p:nvSpPr>
        <p:spPr>
          <a:xfrm>
            <a:off x="457200" y="3959352"/>
            <a:ext cx="384048" cy="292608"/>
          </a:xfrm>
          <a:prstGeom prst="roundRect">
            <a:avLst>
              <a:gd name="adj" fmla="val 12000"/>
            </a:avLst>
          </a:prstGeom>
          <a:solidFill>
            <a:srgbClr val="C41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3959352"/>
            <a:ext cx="384048" cy="292608"/>
          </a:xfrm>
          <a:prstGeom prst="rect">
            <a:avLst/>
          </a:prstGeom>
          <a:noFill/>
        </p:spPr>
        <p:txBody>
          <a:bodyPr wrap="square"/>
          <a:lstStyle/>
          <a:p>
            <a:pPr algn="ctr">
              <a:spcBef>
                <a:spcPts val="0"/>
              </a:spcBef>
              <a:spcAft>
                <a:spcPts val="0"/>
              </a:spcAft>
            </a:pPr>
            <a:r>
              <a:rPr sz="1100" b="1">
                <a:solidFill>
                  <a:srgbClr val="FFFFFF"/>
                </a:solidFill>
                <a:latin typeface="WenQuanYi Micro Hei"/>
                <a:ea typeface="WenQuanYi Micro Hei"/>
                <a:cs typeface="WenQuanYi Micro Hei"/>
              </a:rPr>
              <a:t>08</a:t>
            </a:r>
          </a:p>
        </p:txBody>
      </p:sp>
      <p:sp>
        <p:nvSpPr>
          <p:cNvPr id="30" name="TextBox 29"/>
          <p:cNvSpPr txBox="1"/>
          <p:nvPr/>
        </p:nvSpPr>
        <p:spPr>
          <a:xfrm>
            <a:off x="960120" y="3959352"/>
            <a:ext cx="10698480" cy="29260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[Cell]  早期人皮层代谢图谱：糖酵解/磷酸戊糖途径开关决定放射状胶质命运</a:t>
            </a:r>
          </a:p>
        </p:txBody>
      </p:sp>
      <p:sp>
        <p:nvSpPr>
          <p:cNvPr id="31" name="TextBox 30"/>
          <p:cNvSpPr txBox="1"/>
          <p:nvPr/>
        </p:nvSpPr>
        <p:spPr>
          <a:xfrm>
            <a:off x="457200" y="4361688"/>
            <a:ext cx="10972800" cy="292608"/>
          </a:xfrm>
          <a:prstGeom prst="rect">
            <a:avLst/>
          </a:prstGeom>
          <a:noFill/>
        </p:spPr>
        <p:txBody>
          <a:bodyPr wrap="square"/>
          <a:lstStyle/>
          <a:p>
            <a:pPr algn="l">
              <a:spcBef>
                <a:spcPts val="0"/>
              </a:spcBef>
              <a:spcAft>
                <a:spcPts val="0"/>
              </a:spcAft>
            </a:pPr>
            <a:r>
              <a:rPr sz="1400" b="1">
                <a:solidFill>
                  <a:srgbClr val="003D7A"/>
                </a:solidFill>
                <a:latin typeface="WenQuanYi Micro Hei"/>
                <a:ea typeface="WenQuanYi Micro Hei"/>
                <a:cs typeface="WenQuanYi Micro Hei"/>
              </a:rPr>
              <a:t>中等相关 4 篇（胶质 / 神经保护 / AD / 树突计算）</a:t>
            </a:r>
          </a:p>
        </p:txBody>
      </p:sp>
      <p:sp>
        <p:nvSpPr>
          <p:cNvPr id="32" name="Rounded Rectangle 31"/>
          <p:cNvSpPr/>
          <p:nvPr/>
        </p:nvSpPr>
        <p:spPr>
          <a:xfrm>
            <a:off x="457200" y="4672584"/>
            <a:ext cx="384048" cy="292608"/>
          </a:xfrm>
          <a:prstGeom prst="roundRect">
            <a:avLst>
              <a:gd name="adj" fmla="val 12000"/>
            </a:avLst>
          </a:prstGeom>
          <a:solidFill>
            <a:srgbClr val="003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4672584"/>
            <a:ext cx="384048" cy="292608"/>
          </a:xfrm>
          <a:prstGeom prst="rect">
            <a:avLst/>
          </a:prstGeom>
          <a:noFill/>
        </p:spPr>
        <p:txBody>
          <a:bodyPr wrap="square"/>
          <a:lstStyle/>
          <a:p>
            <a:pPr algn="ctr">
              <a:spcBef>
                <a:spcPts val="0"/>
              </a:spcBef>
              <a:spcAft>
                <a:spcPts val="0"/>
              </a:spcAft>
            </a:pPr>
            <a:r>
              <a:rPr sz="1100" b="1">
                <a:solidFill>
                  <a:srgbClr val="FFFFFF"/>
                </a:solidFill>
                <a:latin typeface="WenQuanYi Micro Hei"/>
                <a:ea typeface="WenQuanYi Micro Hei"/>
                <a:cs typeface="WenQuanYi Micro Hei"/>
              </a:rPr>
              <a:t>09</a:t>
            </a:r>
          </a:p>
        </p:txBody>
      </p:sp>
      <p:sp>
        <p:nvSpPr>
          <p:cNvPr id="34" name="TextBox 33"/>
          <p:cNvSpPr txBox="1"/>
          <p:nvPr/>
        </p:nvSpPr>
        <p:spPr>
          <a:xfrm>
            <a:off x="960120" y="4672584"/>
            <a:ext cx="10698480" cy="29260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[Nature]  发育中人皮层四种胶质细胞的 3D 表观基因组，定位精分风险与人加速区</a:t>
            </a:r>
          </a:p>
        </p:txBody>
      </p:sp>
      <p:sp>
        <p:nvSpPr>
          <p:cNvPr id="35" name="Rounded Rectangle 34"/>
          <p:cNvSpPr/>
          <p:nvPr/>
        </p:nvSpPr>
        <p:spPr>
          <a:xfrm>
            <a:off x="457200" y="5001768"/>
            <a:ext cx="384048" cy="292608"/>
          </a:xfrm>
          <a:prstGeom prst="roundRect">
            <a:avLst>
              <a:gd name="adj" fmla="val 12000"/>
            </a:avLst>
          </a:prstGeom>
          <a:solidFill>
            <a:srgbClr val="003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5001768"/>
            <a:ext cx="384048" cy="292608"/>
          </a:xfrm>
          <a:prstGeom prst="rect">
            <a:avLst/>
          </a:prstGeom>
          <a:noFill/>
        </p:spPr>
        <p:txBody>
          <a:bodyPr wrap="square"/>
          <a:lstStyle/>
          <a:p>
            <a:pPr algn="ctr">
              <a:spcBef>
                <a:spcPts val="0"/>
              </a:spcBef>
              <a:spcAft>
                <a:spcPts val="0"/>
              </a:spcAft>
            </a:pPr>
            <a:r>
              <a:rPr sz="1100" b="1">
                <a:solidFill>
                  <a:srgbClr val="FFFFFF"/>
                </a:solidFill>
                <a:latin typeface="WenQuanYi Micro Hei"/>
                <a:ea typeface="WenQuanYi Micro Hei"/>
                <a:cs typeface="WenQuanYi Micro Hei"/>
              </a:rPr>
              <a:t>10</a:t>
            </a:r>
          </a:p>
        </p:txBody>
      </p:sp>
      <p:sp>
        <p:nvSpPr>
          <p:cNvPr id="37" name="TextBox 36"/>
          <p:cNvSpPr txBox="1"/>
          <p:nvPr/>
        </p:nvSpPr>
        <p:spPr>
          <a:xfrm>
            <a:off x="960120" y="5001768"/>
            <a:ext cx="10698480" cy="29260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[Nature]  补体 H 因子在神经元细胞内抗铁死亡，保护炎症中的中枢神经元</a:t>
            </a:r>
          </a:p>
        </p:txBody>
      </p:sp>
      <p:sp>
        <p:nvSpPr>
          <p:cNvPr id="38" name="Rounded Rectangle 37"/>
          <p:cNvSpPr/>
          <p:nvPr/>
        </p:nvSpPr>
        <p:spPr>
          <a:xfrm>
            <a:off x="457200" y="5330952"/>
            <a:ext cx="384048" cy="292608"/>
          </a:xfrm>
          <a:prstGeom prst="roundRect">
            <a:avLst>
              <a:gd name="adj" fmla="val 12000"/>
            </a:avLst>
          </a:prstGeom>
          <a:solidFill>
            <a:srgbClr val="003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5330952"/>
            <a:ext cx="384048" cy="292608"/>
          </a:xfrm>
          <a:prstGeom prst="rect">
            <a:avLst/>
          </a:prstGeom>
          <a:noFill/>
        </p:spPr>
        <p:txBody>
          <a:bodyPr wrap="square"/>
          <a:lstStyle/>
          <a:p>
            <a:pPr algn="ctr">
              <a:spcBef>
                <a:spcPts val="0"/>
              </a:spcBef>
              <a:spcAft>
                <a:spcPts val="0"/>
              </a:spcAft>
            </a:pPr>
            <a:r>
              <a:rPr sz="1100" b="1">
                <a:solidFill>
                  <a:srgbClr val="FFFFFF"/>
                </a:solidFill>
                <a:latin typeface="WenQuanYi Micro Hei"/>
                <a:ea typeface="WenQuanYi Micro Hei"/>
                <a:cs typeface="WenQuanYi Micro Hei"/>
              </a:rPr>
              <a:t>11</a:t>
            </a:r>
          </a:p>
        </p:txBody>
      </p:sp>
      <p:sp>
        <p:nvSpPr>
          <p:cNvPr id="40" name="TextBox 39"/>
          <p:cNvSpPr txBox="1"/>
          <p:nvPr/>
        </p:nvSpPr>
        <p:spPr>
          <a:xfrm>
            <a:off x="960120" y="5330952"/>
            <a:ext cx="10698480" cy="29260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[Nature]  兴奋性神经元异常表达 ERBB4 是阿尔茨海默病早期病理的驱动因素</a:t>
            </a:r>
          </a:p>
        </p:txBody>
      </p:sp>
      <p:sp>
        <p:nvSpPr>
          <p:cNvPr id="41" name="Rounded Rectangle 40"/>
          <p:cNvSpPr/>
          <p:nvPr/>
        </p:nvSpPr>
        <p:spPr>
          <a:xfrm>
            <a:off x="457200" y="5660136"/>
            <a:ext cx="384048" cy="292608"/>
          </a:xfrm>
          <a:prstGeom prst="roundRect">
            <a:avLst>
              <a:gd name="adj" fmla="val 12000"/>
            </a:avLst>
          </a:prstGeom>
          <a:solidFill>
            <a:srgbClr val="003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5660136"/>
            <a:ext cx="384048" cy="292608"/>
          </a:xfrm>
          <a:prstGeom prst="rect">
            <a:avLst/>
          </a:prstGeom>
          <a:noFill/>
        </p:spPr>
        <p:txBody>
          <a:bodyPr wrap="square"/>
          <a:lstStyle/>
          <a:p>
            <a:pPr algn="ctr">
              <a:spcBef>
                <a:spcPts val="0"/>
              </a:spcBef>
              <a:spcAft>
                <a:spcPts val="0"/>
              </a:spcAft>
            </a:pPr>
            <a:r>
              <a:rPr sz="1100" b="1">
                <a:solidFill>
                  <a:srgbClr val="FFFFFF"/>
                </a:solidFill>
                <a:latin typeface="WenQuanYi Micro Hei"/>
                <a:ea typeface="WenQuanYi Micro Hei"/>
                <a:cs typeface="WenQuanYi Micro Hei"/>
              </a:rPr>
              <a:t>12</a:t>
            </a:r>
          </a:p>
        </p:txBody>
      </p:sp>
      <p:sp>
        <p:nvSpPr>
          <p:cNvPr id="43" name="TextBox 42"/>
          <p:cNvSpPr txBox="1"/>
          <p:nvPr/>
        </p:nvSpPr>
        <p:spPr>
          <a:xfrm>
            <a:off x="960120" y="5660136"/>
            <a:ext cx="10698480" cy="29260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[Science]  灵活决策的细胞计算：顶端树突编码抽象规则，胞体编码感觉</a:t>
            </a:r>
          </a:p>
        </p:txBody>
      </p:sp>
      <p:sp>
        <p:nvSpPr>
          <p:cNvPr id="44" name="Rectangle 43"/>
          <p:cNvSpPr/>
          <p:nvPr/>
        </p:nvSpPr>
        <p:spPr>
          <a:xfrm>
            <a:off x="0" y="6601968"/>
            <a:ext cx="12191695" cy="25603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0040" y="6601968"/>
            <a:ext cx="8229600" cy="256032"/>
          </a:xfrm>
          <a:prstGeom prst="rect">
            <a:avLst/>
          </a:prstGeom>
          <a:noFill/>
        </p:spPr>
        <p:txBody>
          <a:bodyPr wrap="square"/>
          <a:lstStyle/>
          <a:p>
            <a:pPr algn="l">
              <a:spcBef>
                <a:spcPts val="0"/>
              </a:spcBef>
              <a:spcAft>
                <a:spcPts val="0"/>
              </a:spcAft>
            </a:pPr>
            <a:r>
              <a:rPr sz="1000" b="0">
                <a:solidFill>
                  <a:srgbClr val="FFFFFF"/>
                </a:solidFill>
                <a:latin typeface="WenQuanYi Micro Hei"/>
                <a:ea typeface="WenQuanYi Micro Hei"/>
                <a:cs typeface="WenQuanYi Micro Hei"/>
              </a:rPr>
              <a:t>CNS 三大主刊 2026.10.15 ｜生物医学文献汇报（一文一页）</a:t>
            </a:r>
          </a:p>
        </p:txBody>
      </p:sp>
      <p:sp>
        <p:nvSpPr>
          <p:cNvPr id="46" name="TextBox 45"/>
          <p:cNvSpPr txBox="1"/>
          <p:nvPr/>
        </p:nvSpPr>
        <p:spPr>
          <a:xfrm>
            <a:off x="9692640" y="6601968"/>
            <a:ext cx="2194560" cy="256032"/>
          </a:xfrm>
          <a:prstGeom prst="rect">
            <a:avLst/>
          </a:prstGeom>
          <a:noFill/>
        </p:spPr>
        <p:txBody>
          <a:bodyPr wrap="square"/>
          <a:lstStyle/>
          <a:p>
            <a:pPr algn="r">
              <a:spcBef>
                <a:spcPts val="0"/>
              </a:spcBef>
              <a:spcAft>
                <a:spcPts val="0"/>
              </a:spcAft>
            </a:pPr>
            <a:r>
              <a:rPr sz="1000" b="0">
                <a:solidFill>
                  <a:srgbClr val="FFFFFF"/>
                </a:solidFill>
                <a:latin typeface="WenQuanYi Micro Hei"/>
                <a:ea typeface="WenQuanYi Micro Hei"/>
                <a:cs typeface="WenQuanYi Micro Hei"/>
              </a:rPr>
              <a:t>0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92608" y="201168"/>
            <a:ext cx="1234440" cy="310896"/>
          </a:xfrm>
          <a:prstGeom prst="roundRect">
            <a:avLst>
              <a:gd name="adj" fmla="val 12000"/>
            </a:avLst>
          </a:prstGeom>
          <a:solidFill>
            <a:srgbClr val="008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201168"/>
            <a:ext cx="1234440" cy="310896"/>
          </a:xfrm>
          <a:prstGeom prst="rect">
            <a:avLst/>
          </a:prstGeom>
          <a:noFill/>
        </p:spPr>
        <p:txBody>
          <a:bodyPr wrap="square"/>
          <a:lstStyle/>
          <a:p>
            <a:pPr algn="ctr">
              <a:spcBef>
                <a:spcPts val="0"/>
              </a:spcBef>
              <a:spcAft>
                <a:spcPts val="0"/>
              </a:spcAft>
            </a:pPr>
            <a:r>
              <a:rPr sz="1200" b="1">
                <a:solidFill>
                  <a:srgbClr val="FFFFFF"/>
                </a:solidFill>
                <a:latin typeface="WenQuanYi Micro Hei"/>
                <a:ea typeface="WenQuanYi Micro Hei"/>
                <a:cs typeface="WenQuanYi Micro Hei"/>
              </a:rPr>
              <a:t>Cell</a:t>
            </a:r>
          </a:p>
        </p:txBody>
      </p:sp>
      <p:sp>
        <p:nvSpPr>
          <p:cNvPr id="6" name="TextBox 5"/>
          <p:cNvSpPr txBox="1"/>
          <p:nvPr/>
        </p:nvSpPr>
        <p:spPr>
          <a:xfrm>
            <a:off x="1645920" y="128016"/>
            <a:ext cx="10241280" cy="384048"/>
          </a:xfrm>
          <a:prstGeom prst="rect">
            <a:avLst/>
          </a:prstGeom>
          <a:noFill/>
        </p:spPr>
        <p:txBody>
          <a:bodyPr wrap="square"/>
          <a:lstStyle/>
          <a:p>
            <a:pPr algn="l">
              <a:spcBef>
                <a:spcPts val="0"/>
              </a:spcBef>
              <a:spcAft>
                <a:spcPts val="0"/>
              </a:spcAft>
            </a:pPr>
            <a:r>
              <a:rPr sz="1800" b="1">
                <a:solidFill>
                  <a:srgbClr val="FFFFFF"/>
                </a:solidFill>
                <a:latin typeface="WenQuanYi Micro Hei"/>
                <a:ea typeface="WenQuanYi Micro Hei"/>
                <a:cs typeface="WenQuanYi Micro Hei"/>
              </a:rPr>
              <a:t>用蛋白降解驱动比例型转录激活，把“蛋白变少”变成可筛选信号</a:t>
            </a:r>
          </a:p>
        </p:txBody>
      </p:sp>
      <p:sp>
        <p:nvSpPr>
          <p:cNvPr id="7" name="TextBox 6"/>
          <p:cNvSpPr txBox="1"/>
          <p:nvPr/>
        </p:nvSpPr>
        <p:spPr>
          <a:xfrm>
            <a:off x="1645920" y="512064"/>
            <a:ext cx="10241280" cy="384048"/>
          </a:xfrm>
          <a:prstGeom prst="rect">
            <a:avLst/>
          </a:prstGeom>
          <a:noFill/>
        </p:spPr>
        <p:txBody>
          <a:bodyPr wrap="square"/>
          <a:lstStyle/>
          <a:p>
            <a:pPr algn="l">
              <a:spcBef>
                <a:spcPts val="0"/>
              </a:spcBef>
              <a:spcAft>
                <a:spcPts val="0"/>
              </a:spcAft>
            </a:pPr>
            <a:r>
              <a:rPr sz="1100" b="0">
                <a:solidFill>
                  <a:srgbClr val="D0DCE8"/>
                </a:solidFill>
                <a:latin typeface="WenQuanYi Micro Hei"/>
                <a:ea typeface="WenQuanYi Micro Hei"/>
                <a:cs typeface="WenQuanYi Micro Hei"/>
              </a:rPr>
              <a:t>Ratiometric transcriptional activation by protein degradation  ·  Gray / Banik</a:t>
            </a:r>
          </a:p>
        </p:txBody>
      </p:sp>
      <p:sp>
        <p:nvSpPr>
          <p:cNvPr id="8" name="Rounded Rectangle 7"/>
          <p:cNvSpPr/>
          <p:nvPr/>
        </p:nvSpPr>
        <p:spPr>
          <a:xfrm>
            <a:off x="292608" y="1115568"/>
            <a:ext cx="5623560" cy="10789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188720"/>
            <a:ext cx="5367528" cy="256032"/>
          </a:xfrm>
          <a:prstGeom prst="rect">
            <a:avLst/>
          </a:prstGeom>
          <a:noFill/>
        </p:spPr>
        <p:txBody>
          <a:bodyPr wrap="square"/>
          <a:lstStyle/>
          <a:p>
            <a:pPr algn="l">
              <a:spcBef>
                <a:spcPts val="0"/>
              </a:spcBef>
              <a:spcAft>
                <a:spcPts val="0"/>
              </a:spcAft>
            </a:pPr>
            <a:r>
              <a:rPr sz="1200" b="1">
                <a:solidFill>
                  <a:srgbClr val="008BC7"/>
                </a:solidFill>
                <a:latin typeface="WenQuanYi Micro Hei"/>
                <a:ea typeface="WenQuanYi Micro Hei"/>
                <a:cs typeface="WenQuanYi Micro Hei"/>
              </a:rPr>
              <a:t>解决什么问题</a:t>
            </a:r>
          </a:p>
        </p:txBody>
      </p:sp>
      <p:sp>
        <p:nvSpPr>
          <p:cNvPr id="10" name="TextBox 9"/>
          <p:cNvSpPr txBox="1"/>
          <p:nvPr/>
        </p:nvSpPr>
        <p:spPr>
          <a:xfrm>
            <a:off x="438912" y="1444752"/>
            <a:ext cx="5367528" cy="676656"/>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靶向蛋白降解药（PROTAC、分子胶）很难在活细胞里把“蛋白略降”放大成稳定、可多路过的筛选读出；常规检测是蛋白越少信号越弱。</a:t>
            </a:r>
          </a:p>
        </p:txBody>
      </p:sp>
      <p:sp>
        <p:nvSpPr>
          <p:cNvPr id="11" name="Rounded Rectangle 10"/>
          <p:cNvSpPr/>
          <p:nvPr/>
        </p:nvSpPr>
        <p:spPr>
          <a:xfrm>
            <a:off x="292608" y="2304288"/>
            <a:ext cx="5623560" cy="14173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2359152"/>
            <a:ext cx="5367528" cy="256032"/>
          </a:xfrm>
          <a:prstGeom prst="rect">
            <a:avLst/>
          </a:prstGeom>
          <a:noFill/>
        </p:spPr>
        <p:txBody>
          <a:bodyPr wrap="square"/>
          <a:lstStyle/>
          <a:p>
            <a:pPr algn="l">
              <a:spcBef>
                <a:spcPts val="0"/>
              </a:spcBef>
              <a:spcAft>
                <a:spcPts val="0"/>
              </a:spcAft>
            </a:pPr>
            <a:r>
              <a:rPr sz="1200" b="1">
                <a:solidFill>
                  <a:srgbClr val="008BC7"/>
                </a:solidFill>
                <a:latin typeface="WenQuanYi Micro Hei"/>
                <a:ea typeface="WenQuanYi Micro Hei"/>
                <a:cs typeface="WenQuanYi Micro Hei"/>
              </a:rPr>
              <a:t>做了什么</a:t>
            </a:r>
          </a:p>
        </p:txBody>
      </p:sp>
      <p:sp>
        <p:nvSpPr>
          <p:cNvPr id="13" name="TextBox 12"/>
          <p:cNvSpPr txBox="1"/>
          <p:nvPr/>
        </p:nvSpPr>
        <p:spPr>
          <a:xfrm>
            <a:off x="438912" y="2615184"/>
            <a:ext cx="5367528" cy="102412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设计 RTA 遗传回路：把目标蛋白（POI）与转录因子抑制剂融合。POI 被降解后抑制剂减少，转录因子被释放。灵敏度由 POI-抑制剂 / 转录因子的比例决定，而不是蛋白绝对量。</a:t>
            </a:r>
          </a:p>
        </p:txBody>
      </p:sp>
      <p:sp>
        <p:nvSpPr>
          <p:cNvPr id="14" name="Rounded Rectangle 13"/>
          <p:cNvSpPr/>
          <p:nvPr/>
        </p:nvSpPr>
        <p:spPr>
          <a:xfrm>
            <a:off x="292608" y="3822191"/>
            <a:ext cx="5623560" cy="178308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 y="3877056"/>
            <a:ext cx="5367528" cy="256032"/>
          </a:xfrm>
          <a:prstGeom prst="rect">
            <a:avLst/>
          </a:prstGeom>
          <a:noFill/>
        </p:spPr>
        <p:txBody>
          <a:bodyPr wrap="square"/>
          <a:lstStyle/>
          <a:p>
            <a:pPr algn="l">
              <a:spcBef>
                <a:spcPts val="0"/>
              </a:spcBef>
              <a:spcAft>
                <a:spcPts val="0"/>
              </a:spcAft>
            </a:pPr>
            <a:r>
              <a:rPr sz="1200" b="1">
                <a:solidFill>
                  <a:srgbClr val="008BC7"/>
                </a:solidFill>
                <a:latin typeface="WenQuanYi Micro Hei"/>
                <a:ea typeface="WenQuanYi Micro Hei"/>
                <a:cs typeface="WenQuanYi Micro Hei"/>
              </a:rPr>
              <a:t>关键结论</a:t>
            </a:r>
          </a:p>
        </p:txBody>
      </p:sp>
      <p:sp>
        <p:nvSpPr>
          <p:cNvPr id="16" name="TextBox 15"/>
          <p:cNvSpPr txBox="1"/>
          <p:nvPr/>
        </p:nvSpPr>
        <p:spPr>
          <a:xfrm>
            <a:off x="402336" y="4133087"/>
            <a:ext cx="5404104" cy="1389888"/>
          </a:xfrm>
          <a:prstGeom prst="rect">
            <a:avLst/>
          </a:prstGeom>
          <a:noFill/>
        </p:spPr>
        <p:txBody>
          <a:bodyPr wrap="square">
            <a:spAutoFit/>
          </a:bodyPr>
          <a:lstStyle/>
          <a:p>
            <a:pPr algn="l">
              <a:spcAft>
                <a:spcPts val="600"/>
              </a:spcAft>
            </a:pPr>
            <a:r>
              <a:rPr sz="1300" b="0">
                <a:solidFill>
                  <a:srgbClr val="1F2937"/>
                </a:solidFill>
                <a:latin typeface="WenQuanYi Micro Hei"/>
                <a:ea typeface="WenQuanYi Micro Hei"/>
                <a:cs typeface="WenQuanYi Micro Hei"/>
              </a:rPr>
              <a:t>•  蛋白下降可被放大为 100–1000× 转录输出；不依赖具体降解机制。</a:t>
            </a:r>
          </a:p>
          <a:p>
            <a:pPr algn="l">
              <a:spcAft>
                <a:spcPts val="600"/>
              </a:spcAft>
            </a:pPr>
            <a:r>
              <a:rPr sz="1300" b="0">
                <a:solidFill>
                  <a:srgbClr val="1F2937"/>
                </a:solidFill>
                <a:latin typeface="WenQuanYi Micro Hei"/>
                <a:ea typeface="WenQuanYi Micro Hei"/>
                <a:cs typeface="WenQuanYi Micro Hei"/>
              </a:rPr>
              <a:t>•  可在单细胞做三路正交回路，也可在细胞池用荧光、存活或 barcode 测序读出。</a:t>
            </a:r>
          </a:p>
          <a:p>
            <a:pPr algn="l">
              <a:spcAft>
                <a:spcPts val="600"/>
              </a:spcAft>
            </a:pPr>
            <a:r>
              <a:rPr sz="1300" b="0">
                <a:solidFill>
                  <a:srgbClr val="1F2937"/>
                </a:solidFill>
                <a:latin typeface="WenQuanYi Micro Hei"/>
                <a:ea typeface="WenQuanYi Micro Hei"/>
                <a:cs typeface="WenQuanYi Micro Hei"/>
              </a:rPr>
              <a:t>•  用于癌基因靶点筛选，可快速发现新的分子胶降解剂。</a:t>
            </a:r>
          </a:p>
        </p:txBody>
      </p:sp>
      <p:sp>
        <p:nvSpPr>
          <p:cNvPr id="17" name="TextBox 16"/>
          <p:cNvSpPr txBox="1"/>
          <p:nvPr/>
        </p:nvSpPr>
        <p:spPr>
          <a:xfrm>
            <a:off x="292608" y="5650992"/>
            <a:ext cx="5623560" cy="841248"/>
          </a:xfrm>
          <a:prstGeom prst="rect">
            <a:avLst/>
          </a:prstGeom>
          <a:noFill/>
        </p:spPr>
        <p:txBody>
          <a:bodyPr wrap="square"/>
          <a:lstStyle/>
          <a:p>
            <a:pPr algn="l">
              <a:spcBef>
                <a:spcPts val="0"/>
              </a:spcBef>
              <a:spcAft>
                <a:spcPts val="0"/>
              </a:spcAft>
            </a:pPr>
            <a:r>
              <a:rPr sz="1000" b="0">
                <a:solidFill>
                  <a:srgbClr val="4B5563"/>
                </a:solidFill>
                <a:latin typeface="WenQuanYi Micro Hei"/>
                <a:ea typeface="WenQuanYi Micro Hei"/>
                <a:cs typeface="WenQuanYi Micro Hei"/>
              </a:rPr>
              <a:t>Melissa A. Gray, Steven M. Banik 等  ·  Stanford
Cell 189, 6666–6683 (2026)  ·  DOI: 10.1016/j.cell.2026.08.009</a:t>
            </a:r>
          </a:p>
        </p:txBody>
      </p:sp>
      <p:sp>
        <p:nvSpPr>
          <p:cNvPr id="18" name="Rounded Rectangle 17"/>
          <p:cNvSpPr/>
          <p:nvPr/>
        </p:nvSpPr>
        <p:spPr>
          <a:xfrm>
            <a:off x="6053328" y="1115568"/>
            <a:ext cx="5833872" cy="5349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9632" y="1170432"/>
            <a:ext cx="5559552" cy="256032"/>
          </a:xfrm>
          <a:prstGeom prst="rect">
            <a:avLst/>
          </a:prstGeom>
          <a:noFill/>
        </p:spPr>
        <p:txBody>
          <a:bodyPr wrap="square"/>
          <a:lstStyle/>
          <a:p>
            <a:pPr algn="l">
              <a:spcBef>
                <a:spcPts val="0"/>
              </a:spcBef>
              <a:spcAft>
                <a:spcPts val="0"/>
              </a:spcAft>
            </a:pPr>
            <a:r>
              <a:rPr sz="1100" b="1">
                <a:solidFill>
                  <a:srgbClr val="4B5563"/>
                </a:solidFill>
                <a:latin typeface="WenQuanYi Micro Hei"/>
                <a:ea typeface="WenQuanYi Micro Hei"/>
                <a:cs typeface="WenQuanYi Micro Hei"/>
              </a:rPr>
              <a:t>主图  Graphical abstract（来源：Cell）</a:t>
            </a:r>
          </a:p>
        </p:txBody>
      </p:sp>
      <p:pic>
        <p:nvPicPr>
          <p:cNvPr id="20" name="Picture 19" descr="rta_ga.jpg"/>
          <p:cNvPicPr>
            <a:picLocks noChangeAspect="1"/>
          </p:cNvPicPr>
          <p:nvPr/>
        </p:nvPicPr>
        <p:blipFill>
          <a:blip r:embed="rId2"/>
          <a:stretch>
            <a:fillRect/>
          </a:stretch>
        </p:blipFill>
        <p:spPr>
          <a:xfrm>
            <a:off x="6505956" y="1426464"/>
            <a:ext cx="4928616" cy="4928616"/>
          </a:xfrm>
          <a:prstGeom prst="rect">
            <a:avLst/>
          </a:prstGeom>
        </p:spPr>
      </p:pic>
      <p:sp>
        <p:nvSpPr>
          <p:cNvPr id="21" name="Rectangle 20"/>
          <p:cNvSpPr/>
          <p:nvPr/>
        </p:nvSpPr>
        <p:spPr>
          <a:xfrm>
            <a:off x="0" y="6601968"/>
            <a:ext cx="12191695" cy="25603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601968"/>
            <a:ext cx="8229600" cy="256032"/>
          </a:xfrm>
          <a:prstGeom prst="rect">
            <a:avLst/>
          </a:prstGeom>
          <a:noFill/>
        </p:spPr>
        <p:txBody>
          <a:bodyPr wrap="square"/>
          <a:lstStyle/>
          <a:p>
            <a:pPr algn="l">
              <a:spcBef>
                <a:spcPts val="0"/>
              </a:spcBef>
              <a:spcAft>
                <a:spcPts val="0"/>
              </a:spcAft>
            </a:pPr>
            <a:r>
              <a:rPr sz="1000" b="0">
                <a:solidFill>
                  <a:srgbClr val="FFFFFF"/>
                </a:solidFill>
                <a:latin typeface="WenQuanYi Micro Hei"/>
                <a:ea typeface="WenQuanYi Micro Hei"/>
                <a:cs typeface="WenQuanYi Micro Hei"/>
              </a:rPr>
              <a:t>CNS 三大主刊 2026.10.15 ｜生物医学文献汇报（一文一页）</a:t>
            </a:r>
          </a:p>
        </p:txBody>
      </p:sp>
      <p:sp>
        <p:nvSpPr>
          <p:cNvPr id="23" name="TextBox 22"/>
          <p:cNvSpPr txBox="1"/>
          <p:nvPr/>
        </p:nvSpPr>
        <p:spPr>
          <a:xfrm>
            <a:off x="9692640" y="6601968"/>
            <a:ext cx="2194560" cy="256032"/>
          </a:xfrm>
          <a:prstGeom prst="rect">
            <a:avLst/>
          </a:prstGeom>
          <a:noFill/>
        </p:spPr>
        <p:txBody>
          <a:bodyPr wrap="square"/>
          <a:lstStyle/>
          <a:p>
            <a:pPr algn="r">
              <a:spcBef>
                <a:spcPts val="0"/>
              </a:spcBef>
              <a:spcAft>
                <a:spcPts val="0"/>
              </a:spcAft>
            </a:pPr>
            <a:r>
              <a:rPr sz="1000" b="0">
                <a:solidFill>
                  <a:srgbClr val="FFFFFF"/>
                </a:solidFill>
                <a:latin typeface="WenQuanYi Micro Hei"/>
                <a:ea typeface="WenQuanYi Micro Hei"/>
                <a:cs typeface="WenQuanYi Micro Hei"/>
              </a:rPr>
              <a:t>1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92608" y="201168"/>
            <a:ext cx="1234440" cy="310896"/>
          </a:xfrm>
          <a:prstGeom prst="roundRect">
            <a:avLst>
              <a:gd name="adj" fmla="val 12000"/>
            </a:avLst>
          </a:prstGeom>
          <a:solidFill>
            <a:srgbClr val="008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201168"/>
            <a:ext cx="1234440" cy="310896"/>
          </a:xfrm>
          <a:prstGeom prst="rect">
            <a:avLst/>
          </a:prstGeom>
          <a:noFill/>
        </p:spPr>
        <p:txBody>
          <a:bodyPr wrap="square"/>
          <a:lstStyle/>
          <a:p>
            <a:pPr algn="ctr">
              <a:spcBef>
                <a:spcPts val="0"/>
              </a:spcBef>
              <a:spcAft>
                <a:spcPts val="0"/>
              </a:spcAft>
            </a:pPr>
            <a:r>
              <a:rPr sz="1200" b="1">
                <a:solidFill>
                  <a:srgbClr val="FFFFFF"/>
                </a:solidFill>
                <a:latin typeface="WenQuanYi Micro Hei"/>
                <a:ea typeface="WenQuanYi Micro Hei"/>
                <a:cs typeface="WenQuanYi Micro Hei"/>
              </a:rPr>
              <a:t>Cell</a:t>
            </a:r>
          </a:p>
        </p:txBody>
      </p:sp>
      <p:sp>
        <p:nvSpPr>
          <p:cNvPr id="6" name="TextBox 5"/>
          <p:cNvSpPr txBox="1"/>
          <p:nvPr/>
        </p:nvSpPr>
        <p:spPr>
          <a:xfrm>
            <a:off x="1645920" y="128016"/>
            <a:ext cx="10241280" cy="384048"/>
          </a:xfrm>
          <a:prstGeom prst="rect">
            <a:avLst/>
          </a:prstGeom>
          <a:noFill/>
        </p:spPr>
        <p:txBody>
          <a:bodyPr wrap="square"/>
          <a:lstStyle/>
          <a:p>
            <a:pPr algn="l">
              <a:spcBef>
                <a:spcPts val="0"/>
              </a:spcBef>
              <a:spcAft>
                <a:spcPts val="0"/>
              </a:spcAft>
            </a:pPr>
            <a:r>
              <a:rPr sz="1800" b="1">
                <a:solidFill>
                  <a:srgbClr val="FFFFFF"/>
                </a:solidFill>
                <a:latin typeface="WenQuanYi Micro Hei"/>
                <a:ea typeface="WenQuanYi Micro Hei"/>
                <a:cs typeface="WenQuanYi Micro Hei"/>
              </a:rPr>
              <a:t>雌激素重编程 STING，促使 NET“功能性抗原屏蔽”，造成 ADC 的女性偏倚耐药</a:t>
            </a:r>
          </a:p>
        </p:txBody>
      </p:sp>
      <p:sp>
        <p:nvSpPr>
          <p:cNvPr id="7" name="TextBox 6"/>
          <p:cNvSpPr txBox="1"/>
          <p:nvPr/>
        </p:nvSpPr>
        <p:spPr>
          <a:xfrm>
            <a:off x="1645920" y="512064"/>
            <a:ext cx="10241280" cy="384048"/>
          </a:xfrm>
          <a:prstGeom prst="rect">
            <a:avLst/>
          </a:prstGeom>
          <a:noFill/>
        </p:spPr>
        <p:txBody>
          <a:bodyPr wrap="square"/>
          <a:lstStyle/>
          <a:p>
            <a:pPr algn="l">
              <a:spcBef>
                <a:spcPts val="0"/>
              </a:spcBef>
              <a:spcAft>
                <a:spcPts val="0"/>
              </a:spcAft>
            </a:pPr>
            <a:r>
              <a:rPr sz="1100" b="0">
                <a:solidFill>
                  <a:srgbClr val="D0DCE8"/>
                </a:solidFill>
                <a:latin typeface="WenQuanYi Micro Hei"/>
                <a:ea typeface="WenQuanYi Micro Hei"/>
                <a:cs typeface="WenQuanYi Micro Hei"/>
              </a:rPr>
              <a:t>STING reprogramming by estrogen … sex-biased resistance to ADC therapy  ·  Yan / Hao</a:t>
            </a:r>
          </a:p>
        </p:txBody>
      </p:sp>
      <p:sp>
        <p:nvSpPr>
          <p:cNvPr id="8" name="Rounded Rectangle 7"/>
          <p:cNvSpPr/>
          <p:nvPr/>
        </p:nvSpPr>
        <p:spPr>
          <a:xfrm>
            <a:off x="292608" y="1115568"/>
            <a:ext cx="5623560" cy="10789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188720"/>
            <a:ext cx="5367528" cy="256032"/>
          </a:xfrm>
          <a:prstGeom prst="rect">
            <a:avLst/>
          </a:prstGeom>
          <a:noFill/>
        </p:spPr>
        <p:txBody>
          <a:bodyPr wrap="square"/>
          <a:lstStyle/>
          <a:p>
            <a:pPr algn="l">
              <a:spcBef>
                <a:spcPts val="0"/>
              </a:spcBef>
              <a:spcAft>
                <a:spcPts val="0"/>
              </a:spcAft>
            </a:pPr>
            <a:r>
              <a:rPr sz="1200" b="1">
                <a:solidFill>
                  <a:srgbClr val="008BC7"/>
                </a:solidFill>
                <a:latin typeface="WenQuanYi Micro Hei"/>
                <a:ea typeface="WenQuanYi Micro Hei"/>
                <a:cs typeface="WenQuanYi Micro Hei"/>
              </a:rPr>
              <a:t>解决什么问题</a:t>
            </a:r>
          </a:p>
        </p:txBody>
      </p:sp>
      <p:sp>
        <p:nvSpPr>
          <p:cNvPr id="10" name="TextBox 9"/>
          <p:cNvSpPr txBox="1"/>
          <p:nvPr/>
        </p:nvSpPr>
        <p:spPr>
          <a:xfrm>
            <a:off x="438912" y="1444752"/>
            <a:ext cx="5367528" cy="676656"/>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抗体偶联药物（ADC）疗效是否存在性别差异、机制是什么，此前不清楚；抗原表达相同却出现女性耐药更难解释。</a:t>
            </a:r>
          </a:p>
        </p:txBody>
      </p:sp>
      <p:sp>
        <p:nvSpPr>
          <p:cNvPr id="11" name="Rounded Rectangle 10"/>
          <p:cNvSpPr/>
          <p:nvPr/>
        </p:nvSpPr>
        <p:spPr>
          <a:xfrm>
            <a:off x="292608" y="2304288"/>
            <a:ext cx="5623560" cy="14173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2359152"/>
            <a:ext cx="5367528" cy="256032"/>
          </a:xfrm>
          <a:prstGeom prst="rect">
            <a:avLst/>
          </a:prstGeom>
          <a:noFill/>
        </p:spPr>
        <p:txBody>
          <a:bodyPr wrap="square"/>
          <a:lstStyle/>
          <a:p>
            <a:pPr algn="l">
              <a:spcBef>
                <a:spcPts val="0"/>
              </a:spcBef>
              <a:spcAft>
                <a:spcPts val="0"/>
              </a:spcAft>
            </a:pPr>
            <a:r>
              <a:rPr sz="1200" b="1">
                <a:solidFill>
                  <a:srgbClr val="008BC7"/>
                </a:solidFill>
                <a:latin typeface="WenQuanYi Micro Hei"/>
                <a:ea typeface="WenQuanYi Micro Hei"/>
                <a:cs typeface="WenQuanYi Micro Hei"/>
              </a:rPr>
              <a:t>做了什么</a:t>
            </a:r>
          </a:p>
        </p:txBody>
      </p:sp>
      <p:sp>
        <p:nvSpPr>
          <p:cNvPr id="13" name="TextBox 12"/>
          <p:cNvSpPr txBox="1"/>
          <p:nvPr/>
        </p:nvSpPr>
        <p:spPr>
          <a:xfrm>
            <a:off x="438912" y="2615184"/>
            <a:ext cx="5367528" cy="102412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用 55 例 CLDN18.2+ 胰腺癌人源化 PDX 做“类 II 期临床前试验”，比较雌雄宿主对 CLDN18.2-ADC 的响应，并解析雌激素–GPER1–TRAF6–STING 通路。</a:t>
            </a:r>
          </a:p>
        </p:txBody>
      </p:sp>
      <p:sp>
        <p:nvSpPr>
          <p:cNvPr id="14" name="Rounded Rectangle 13"/>
          <p:cNvSpPr/>
          <p:nvPr/>
        </p:nvSpPr>
        <p:spPr>
          <a:xfrm>
            <a:off x="292608" y="3822191"/>
            <a:ext cx="5623560" cy="178308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 y="3877056"/>
            <a:ext cx="5367528" cy="256032"/>
          </a:xfrm>
          <a:prstGeom prst="rect">
            <a:avLst/>
          </a:prstGeom>
          <a:noFill/>
        </p:spPr>
        <p:txBody>
          <a:bodyPr wrap="square"/>
          <a:lstStyle/>
          <a:p>
            <a:pPr algn="l">
              <a:spcBef>
                <a:spcPts val="0"/>
              </a:spcBef>
              <a:spcAft>
                <a:spcPts val="0"/>
              </a:spcAft>
            </a:pPr>
            <a:r>
              <a:rPr sz="1200" b="1">
                <a:solidFill>
                  <a:srgbClr val="008BC7"/>
                </a:solidFill>
                <a:latin typeface="WenQuanYi Micro Hei"/>
                <a:ea typeface="WenQuanYi Micro Hei"/>
                <a:cs typeface="WenQuanYi Micro Hei"/>
              </a:rPr>
              <a:t>关键结论</a:t>
            </a:r>
          </a:p>
        </p:txBody>
      </p:sp>
      <p:sp>
        <p:nvSpPr>
          <p:cNvPr id="16" name="TextBox 15"/>
          <p:cNvSpPr txBox="1"/>
          <p:nvPr/>
        </p:nvSpPr>
        <p:spPr>
          <a:xfrm>
            <a:off x="402336" y="4133087"/>
            <a:ext cx="5404104" cy="1389888"/>
          </a:xfrm>
          <a:prstGeom prst="rect">
            <a:avLst/>
          </a:prstGeom>
          <a:noFill/>
        </p:spPr>
        <p:txBody>
          <a:bodyPr wrap="square">
            <a:spAutoFit/>
          </a:bodyPr>
          <a:lstStyle/>
          <a:p>
            <a:pPr algn="l">
              <a:spcAft>
                <a:spcPts val="600"/>
              </a:spcAft>
            </a:pPr>
            <a:r>
              <a:rPr sz="1300" b="0">
                <a:solidFill>
                  <a:srgbClr val="1F2937"/>
                </a:solidFill>
                <a:latin typeface="WenQuanYi Micro Hei"/>
                <a:ea typeface="WenQuanYi Micro Hei"/>
                <a:cs typeface="WenQuanYi Micro Hei"/>
              </a:rPr>
              <a:t>•  抗原水平相当，但雌性宿主对 CLDN18.2-ADC 显著耐药。</a:t>
            </a:r>
          </a:p>
          <a:p>
            <a:pPr algn="l">
              <a:spcAft>
                <a:spcPts val="600"/>
              </a:spcAft>
            </a:pPr>
            <a:r>
              <a:rPr sz="1300" b="0">
                <a:solidFill>
                  <a:srgbClr val="1F2937"/>
                </a:solidFill>
                <a:latin typeface="WenQuanYi Micro Hei"/>
                <a:ea typeface="WenQuanYi Micro Hei"/>
                <a:cs typeface="WenQuanYi Micro Hei"/>
              </a:rPr>
              <a:t>•  雌激素经 GPER1 上调 TRAF6，把 STING 从 IRF3/IFN 转到 NF-κB/CXCL1，招募中性粒细胞形成 NET。</a:t>
            </a:r>
          </a:p>
          <a:p>
            <a:pPr algn="l">
              <a:spcAft>
                <a:spcPts val="600"/>
              </a:spcAft>
            </a:pPr>
            <a:r>
              <a:rPr sz="1300" b="0">
                <a:solidFill>
                  <a:srgbClr val="1F2937"/>
                </a:solidFill>
                <a:latin typeface="WenQuanYi Micro Hei"/>
                <a:ea typeface="WenQuanYi Micro Hei"/>
                <a:cs typeface="WenQuanYi Micro Hei"/>
              </a:rPr>
              <a:t>•  NET 构成带电胞外网，限制抗体接触抗原（功能性抗原屏蔽）。Sivelestat 破坏 NET 后雌性疗效恢复；临床队列中 NET 负荷也与多种抗体疗法疗效差相关。</a:t>
            </a:r>
          </a:p>
        </p:txBody>
      </p:sp>
      <p:sp>
        <p:nvSpPr>
          <p:cNvPr id="17" name="TextBox 16"/>
          <p:cNvSpPr txBox="1"/>
          <p:nvPr/>
        </p:nvSpPr>
        <p:spPr>
          <a:xfrm>
            <a:off x="292608" y="5650992"/>
            <a:ext cx="5623560" cy="841248"/>
          </a:xfrm>
          <a:prstGeom prst="rect">
            <a:avLst/>
          </a:prstGeom>
          <a:noFill/>
        </p:spPr>
        <p:txBody>
          <a:bodyPr wrap="square"/>
          <a:lstStyle/>
          <a:p>
            <a:pPr algn="l">
              <a:spcBef>
                <a:spcPts val="0"/>
              </a:spcBef>
              <a:spcAft>
                <a:spcPts val="0"/>
              </a:spcAft>
            </a:pPr>
            <a:r>
              <a:rPr sz="1000" b="0">
                <a:solidFill>
                  <a:srgbClr val="4B5563"/>
                </a:solidFill>
                <a:latin typeface="WenQuanYi Micro Hei"/>
                <a:ea typeface="WenQuanYi Micro Hei"/>
                <a:cs typeface="WenQuanYi Micro Hei"/>
              </a:rPr>
              <a:t>闫璟瑞、周天兴、石尚亨、王滨、郝继辉 等  ·  天津医科大学肿瘤医院
Cell 189, 6752–6770 (2026)  ·  DOI: 10.1016/j.cell.2026.09.031</a:t>
            </a:r>
          </a:p>
        </p:txBody>
      </p:sp>
      <p:sp>
        <p:nvSpPr>
          <p:cNvPr id="18" name="Rounded Rectangle 17"/>
          <p:cNvSpPr/>
          <p:nvPr/>
        </p:nvSpPr>
        <p:spPr>
          <a:xfrm>
            <a:off x="6053328" y="1115568"/>
            <a:ext cx="5833872" cy="5349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9632" y="1170432"/>
            <a:ext cx="5559552" cy="256032"/>
          </a:xfrm>
          <a:prstGeom prst="rect">
            <a:avLst/>
          </a:prstGeom>
          <a:noFill/>
        </p:spPr>
        <p:txBody>
          <a:bodyPr wrap="square"/>
          <a:lstStyle/>
          <a:p>
            <a:pPr algn="l">
              <a:spcBef>
                <a:spcPts val="0"/>
              </a:spcBef>
              <a:spcAft>
                <a:spcPts val="0"/>
              </a:spcAft>
            </a:pPr>
            <a:r>
              <a:rPr sz="1100" b="1">
                <a:solidFill>
                  <a:srgbClr val="4B5563"/>
                </a:solidFill>
                <a:latin typeface="WenQuanYi Micro Hei"/>
                <a:ea typeface="WenQuanYi Micro Hei"/>
                <a:cs typeface="WenQuanYi Micro Hei"/>
              </a:rPr>
              <a:t>主图  Graphical abstract（来源：Cell）</a:t>
            </a:r>
          </a:p>
        </p:txBody>
      </p:sp>
      <p:pic>
        <p:nvPicPr>
          <p:cNvPr id="20" name="Picture 19" descr="sting_ga.jpg"/>
          <p:cNvPicPr>
            <a:picLocks noChangeAspect="1"/>
          </p:cNvPicPr>
          <p:nvPr/>
        </p:nvPicPr>
        <p:blipFill>
          <a:blip r:embed="rId2"/>
          <a:stretch>
            <a:fillRect/>
          </a:stretch>
        </p:blipFill>
        <p:spPr>
          <a:xfrm>
            <a:off x="6505956" y="1426464"/>
            <a:ext cx="4928616" cy="4928616"/>
          </a:xfrm>
          <a:prstGeom prst="rect">
            <a:avLst/>
          </a:prstGeom>
        </p:spPr>
      </p:pic>
      <p:sp>
        <p:nvSpPr>
          <p:cNvPr id="21" name="Rectangle 20"/>
          <p:cNvSpPr/>
          <p:nvPr/>
        </p:nvSpPr>
        <p:spPr>
          <a:xfrm>
            <a:off x="0" y="6601968"/>
            <a:ext cx="12191695" cy="25603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601968"/>
            <a:ext cx="8229600" cy="256032"/>
          </a:xfrm>
          <a:prstGeom prst="rect">
            <a:avLst/>
          </a:prstGeom>
          <a:noFill/>
        </p:spPr>
        <p:txBody>
          <a:bodyPr wrap="square"/>
          <a:lstStyle/>
          <a:p>
            <a:pPr algn="l">
              <a:spcBef>
                <a:spcPts val="0"/>
              </a:spcBef>
              <a:spcAft>
                <a:spcPts val="0"/>
              </a:spcAft>
            </a:pPr>
            <a:r>
              <a:rPr sz="1000" b="0">
                <a:solidFill>
                  <a:srgbClr val="FFFFFF"/>
                </a:solidFill>
                <a:latin typeface="WenQuanYi Micro Hei"/>
                <a:ea typeface="WenQuanYi Micro Hei"/>
                <a:cs typeface="WenQuanYi Micro Hei"/>
              </a:rPr>
              <a:t>CNS 三大主刊 2026.10.15 ｜生物医学文献汇报（一文一页）</a:t>
            </a:r>
          </a:p>
        </p:txBody>
      </p:sp>
      <p:sp>
        <p:nvSpPr>
          <p:cNvPr id="23" name="TextBox 22"/>
          <p:cNvSpPr txBox="1"/>
          <p:nvPr/>
        </p:nvSpPr>
        <p:spPr>
          <a:xfrm>
            <a:off x="9692640" y="6601968"/>
            <a:ext cx="2194560" cy="256032"/>
          </a:xfrm>
          <a:prstGeom prst="rect">
            <a:avLst/>
          </a:prstGeom>
          <a:noFill/>
        </p:spPr>
        <p:txBody>
          <a:bodyPr wrap="square"/>
          <a:lstStyle/>
          <a:p>
            <a:pPr algn="r">
              <a:spcBef>
                <a:spcPts val="0"/>
              </a:spcBef>
              <a:spcAft>
                <a:spcPts val="0"/>
              </a:spcAft>
            </a:pPr>
            <a:r>
              <a:rPr sz="1000" b="0">
                <a:solidFill>
                  <a:srgbClr val="FFFFFF"/>
                </a:solidFill>
                <a:latin typeface="WenQuanYi Micro Hei"/>
                <a:ea typeface="WenQuanYi Micro Hei"/>
                <a:cs typeface="WenQuanYi Micro Hei"/>
              </a:rPr>
              <a:t>2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92608" y="201168"/>
            <a:ext cx="1234440" cy="310896"/>
          </a:xfrm>
          <a:prstGeom prst="roundRect">
            <a:avLst>
              <a:gd name="adj" fmla="val 12000"/>
            </a:avLst>
          </a:prstGeom>
          <a:solidFill>
            <a:srgbClr val="008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201168"/>
            <a:ext cx="1234440" cy="310896"/>
          </a:xfrm>
          <a:prstGeom prst="rect">
            <a:avLst/>
          </a:prstGeom>
          <a:noFill/>
        </p:spPr>
        <p:txBody>
          <a:bodyPr wrap="square"/>
          <a:lstStyle/>
          <a:p>
            <a:pPr algn="ctr">
              <a:spcBef>
                <a:spcPts val="0"/>
              </a:spcBef>
              <a:spcAft>
                <a:spcPts val="0"/>
              </a:spcAft>
            </a:pPr>
            <a:r>
              <a:rPr sz="1200" b="1">
                <a:solidFill>
                  <a:srgbClr val="FFFFFF"/>
                </a:solidFill>
                <a:latin typeface="WenQuanYi Micro Hei"/>
                <a:ea typeface="WenQuanYi Micro Hei"/>
                <a:cs typeface="WenQuanYi Micro Hei"/>
              </a:rPr>
              <a:t>Cell</a:t>
            </a:r>
          </a:p>
        </p:txBody>
      </p:sp>
      <p:sp>
        <p:nvSpPr>
          <p:cNvPr id="6" name="TextBox 5"/>
          <p:cNvSpPr txBox="1"/>
          <p:nvPr/>
        </p:nvSpPr>
        <p:spPr>
          <a:xfrm>
            <a:off x="1645920" y="128016"/>
            <a:ext cx="10241280" cy="384048"/>
          </a:xfrm>
          <a:prstGeom prst="rect">
            <a:avLst/>
          </a:prstGeom>
          <a:noFill/>
        </p:spPr>
        <p:txBody>
          <a:bodyPr wrap="square"/>
          <a:lstStyle/>
          <a:p>
            <a:pPr algn="l">
              <a:spcBef>
                <a:spcPts val="0"/>
              </a:spcBef>
              <a:spcAft>
                <a:spcPts val="0"/>
              </a:spcAft>
            </a:pPr>
            <a:r>
              <a:rPr sz="1800" b="1">
                <a:solidFill>
                  <a:srgbClr val="FFFFFF"/>
                </a:solidFill>
                <a:latin typeface="WenQuanYi Micro Hei"/>
                <a:ea typeface="WenQuanYi Micro Hei"/>
                <a:cs typeface="WenQuanYi Micro Hei"/>
              </a:rPr>
              <a:t>B 细胞“征用”古老 LINE-1，借助 HUSH 把 AID 精确带到 VH 基因</a:t>
            </a:r>
          </a:p>
        </p:txBody>
      </p:sp>
      <p:sp>
        <p:nvSpPr>
          <p:cNvPr id="7" name="TextBox 6"/>
          <p:cNvSpPr txBox="1"/>
          <p:nvPr/>
        </p:nvSpPr>
        <p:spPr>
          <a:xfrm>
            <a:off x="1645920" y="512064"/>
            <a:ext cx="10241280" cy="384048"/>
          </a:xfrm>
          <a:prstGeom prst="rect">
            <a:avLst/>
          </a:prstGeom>
          <a:noFill/>
        </p:spPr>
        <p:txBody>
          <a:bodyPr wrap="square"/>
          <a:lstStyle/>
          <a:p>
            <a:pPr algn="l">
              <a:spcBef>
                <a:spcPts val="0"/>
              </a:spcBef>
              <a:spcAft>
                <a:spcPts val="0"/>
              </a:spcAft>
            </a:pPr>
            <a:r>
              <a:rPr sz="1100" b="0">
                <a:solidFill>
                  <a:srgbClr val="D0DCE8"/>
                </a:solidFill>
                <a:latin typeface="WenQuanYi Micro Hei"/>
                <a:ea typeface="WenQuanYi Micro Hei"/>
                <a:cs typeface="WenQuanYi Micro Hei"/>
              </a:rPr>
              <a:t>Co-option of retrotransposons promotes antibody diversification  ·  Lauring / Basu</a:t>
            </a:r>
          </a:p>
        </p:txBody>
      </p:sp>
      <p:sp>
        <p:nvSpPr>
          <p:cNvPr id="8" name="Rounded Rectangle 7"/>
          <p:cNvSpPr/>
          <p:nvPr/>
        </p:nvSpPr>
        <p:spPr>
          <a:xfrm>
            <a:off x="292608" y="1115568"/>
            <a:ext cx="5623560" cy="10789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188720"/>
            <a:ext cx="5367528" cy="256032"/>
          </a:xfrm>
          <a:prstGeom prst="rect">
            <a:avLst/>
          </a:prstGeom>
          <a:noFill/>
        </p:spPr>
        <p:txBody>
          <a:bodyPr wrap="square"/>
          <a:lstStyle/>
          <a:p>
            <a:pPr algn="l">
              <a:spcBef>
                <a:spcPts val="0"/>
              </a:spcBef>
              <a:spcAft>
                <a:spcPts val="0"/>
              </a:spcAft>
            </a:pPr>
            <a:r>
              <a:rPr sz="1200" b="1">
                <a:solidFill>
                  <a:srgbClr val="008BC7"/>
                </a:solidFill>
                <a:latin typeface="WenQuanYi Micro Hei"/>
                <a:ea typeface="WenQuanYi Micro Hei"/>
                <a:cs typeface="WenQuanYi Micro Hei"/>
              </a:rPr>
              <a:t>解决什么问题</a:t>
            </a:r>
          </a:p>
        </p:txBody>
      </p:sp>
      <p:sp>
        <p:nvSpPr>
          <p:cNvPr id="10" name="TextBox 9"/>
          <p:cNvSpPr txBox="1"/>
          <p:nvPr/>
        </p:nvSpPr>
        <p:spPr>
          <a:xfrm>
            <a:off x="438912" y="1444752"/>
            <a:ext cx="5367528" cy="676656"/>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体细胞超突变（SHM）依赖 AID，但 AID 如何特异打到重排后的 VH(D)JH，而不是基因组其他地方，一直是抗体多样性的核心谜题。</a:t>
            </a:r>
          </a:p>
        </p:txBody>
      </p:sp>
      <p:sp>
        <p:nvSpPr>
          <p:cNvPr id="11" name="Rounded Rectangle 10"/>
          <p:cNvSpPr/>
          <p:nvPr/>
        </p:nvSpPr>
        <p:spPr>
          <a:xfrm>
            <a:off x="292608" y="2304288"/>
            <a:ext cx="5623560" cy="14173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2359152"/>
            <a:ext cx="5367528" cy="256032"/>
          </a:xfrm>
          <a:prstGeom prst="rect">
            <a:avLst/>
          </a:prstGeom>
          <a:noFill/>
        </p:spPr>
        <p:txBody>
          <a:bodyPr wrap="square"/>
          <a:lstStyle/>
          <a:p>
            <a:pPr algn="l">
              <a:spcBef>
                <a:spcPts val="0"/>
              </a:spcBef>
              <a:spcAft>
                <a:spcPts val="0"/>
              </a:spcAft>
            </a:pPr>
            <a:r>
              <a:rPr sz="1200" b="1">
                <a:solidFill>
                  <a:srgbClr val="008BC7"/>
                </a:solidFill>
                <a:latin typeface="WenQuanYi Micro Hei"/>
                <a:ea typeface="WenQuanYi Micro Hei"/>
                <a:cs typeface="WenQuanYi Micro Hei"/>
              </a:rPr>
              <a:t>做了什么</a:t>
            </a:r>
          </a:p>
        </p:txBody>
      </p:sp>
      <p:sp>
        <p:nvSpPr>
          <p:cNvPr id="13" name="TextBox 12"/>
          <p:cNvSpPr txBox="1"/>
          <p:nvPr/>
        </p:nvSpPr>
        <p:spPr>
          <a:xfrm>
            <a:off x="438912" y="2615184"/>
            <a:ext cx="5367528" cy="102412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发现多数 VH 基因上游存在古老、截短、已无转座能力的 LINE-1；证明重排 VH 启动子产生编码上游 L1 的长反义 RNA，招募 HUSH 复合体与 AID。</a:t>
            </a:r>
          </a:p>
        </p:txBody>
      </p:sp>
      <p:sp>
        <p:nvSpPr>
          <p:cNvPr id="14" name="Rounded Rectangle 13"/>
          <p:cNvSpPr/>
          <p:nvPr/>
        </p:nvSpPr>
        <p:spPr>
          <a:xfrm>
            <a:off x="292608" y="3822191"/>
            <a:ext cx="5623560" cy="178308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 y="3877056"/>
            <a:ext cx="5367528" cy="256032"/>
          </a:xfrm>
          <a:prstGeom prst="rect">
            <a:avLst/>
          </a:prstGeom>
          <a:noFill/>
        </p:spPr>
        <p:txBody>
          <a:bodyPr wrap="square"/>
          <a:lstStyle/>
          <a:p>
            <a:pPr algn="l">
              <a:spcBef>
                <a:spcPts val="0"/>
              </a:spcBef>
              <a:spcAft>
                <a:spcPts val="0"/>
              </a:spcAft>
            </a:pPr>
            <a:r>
              <a:rPr sz="1200" b="1">
                <a:solidFill>
                  <a:srgbClr val="008BC7"/>
                </a:solidFill>
                <a:latin typeface="WenQuanYi Micro Hei"/>
                <a:ea typeface="WenQuanYi Micro Hei"/>
                <a:cs typeface="WenQuanYi Micro Hei"/>
              </a:rPr>
              <a:t>关键结论</a:t>
            </a:r>
          </a:p>
        </p:txBody>
      </p:sp>
      <p:sp>
        <p:nvSpPr>
          <p:cNvPr id="16" name="TextBox 15"/>
          <p:cNvSpPr txBox="1"/>
          <p:nvPr/>
        </p:nvSpPr>
        <p:spPr>
          <a:xfrm>
            <a:off x="402336" y="4133087"/>
            <a:ext cx="5404104" cy="1389888"/>
          </a:xfrm>
          <a:prstGeom prst="rect">
            <a:avLst/>
          </a:prstGeom>
          <a:noFill/>
        </p:spPr>
        <p:txBody>
          <a:bodyPr wrap="square">
            <a:spAutoFit/>
          </a:bodyPr>
          <a:lstStyle/>
          <a:p>
            <a:pPr algn="l">
              <a:spcAft>
                <a:spcPts val="600"/>
              </a:spcAft>
            </a:pPr>
            <a:r>
              <a:rPr sz="1300" b="0">
                <a:solidFill>
                  <a:srgbClr val="1F2937"/>
                </a:solidFill>
                <a:latin typeface="WenQuanYi Micro Hei"/>
                <a:ea typeface="WenQuanYi Micro Hei"/>
                <a:cs typeface="WenQuanYi Micro Hei"/>
              </a:rPr>
              <a:t>•  提出 L1-driven SHM：上游 L1 在顺式招募 HUSH/AID。</a:t>
            </a:r>
          </a:p>
          <a:p>
            <a:pPr algn="l">
              <a:spcAft>
                <a:spcPts val="600"/>
              </a:spcAft>
            </a:pPr>
            <a:r>
              <a:rPr sz="1300" b="0">
                <a:solidFill>
                  <a:srgbClr val="1F2937"/>
                </a:solidFill>
                <a:latin typeface="WenQuanYi Micro Hei"/>
                <a:ea typeface="WenQuanYi Micro Hei"/>
                <a:cs typeface="WenQuanYi Micro Hei"/>
              </a:rPr>
              <a:t>•  HUSH 条件敲除或去掉 VH 上游 L1 的小鼠，体内 SHM 下降。</a:t>
            </a:r>
          </a:p>
          <a:p>
            <a:pPr algn="l">
              <a:spcAft>
                <a:spcPts val="600"/>
              </a:spcAft>
            </a:pPr>
            <a:r>
              <a:rPr sz="1300" b="0">
                <a:solidFill>
                  <a:srgbClr val="1F2937"/>
                </a:solidFill>
                <a:latin typeface="WenQuanYi Micro Hei"/>
                <a:ea typeface="WenQuanYi Micro Hei"/>
                <a:cs typeface="WenQuanYi Micro Hei"/>
              </a:rPr>
              <a:t>•  把有转录活性的 L1 插到非 Ig 位点会引发脱靶 SHM。B 细胞把抗转座子沉默机制改造成抗体多样化工具，连接了固有免疫与适应性免疫。</a:t>
            </a:r>
          </a:p>
        </p:txBody>
      </p:sp>
      <p:sp>
        <p:nvSpPr>
          <p:cNvPr id="17" name="TextBox 16"/>
          <p:cNvSpPr txBox="1"/>
          <p:nvPr/>
        </p:nvSpPr>
        <p:spPr>
          <a:xfrm>
            <a:off x="292608" y="5650992"/>
            <a:ext cx="5623560" cy="841248"/>
          </a:xfrm>
          <a:prstGeom prst="rect">
            <a:avLst/>
          </a:prstGeom>
          <a:noFill/>
        </p:spPr>
        <p:txBody>
          <a:bodyPr wrap="square"/>
          <a:lstStyle/>
          <a:p>
            <a:pPr algn="l">
              <a:spcBef>
                <a:spcPts val="0"/>
              </a:spcBef>
              <a:spcAft>
                <a:spcPts val="0"/>
              </a:spcAft>
            </a:pPr>
            <a:r>
              <a:rPr sz="1000" b="0">
                <a:solidFill>
                  <a:srgbClr val="4B5563"/>
                </a:solidFill>
                <a:latin typeface="WenQuanYi Micro Hei"/>
                <a:ea typeface="WenQuanYi Micro Hei"/>
                <a:cs typeface="WenQuanYi Micro Hei"/>
              </a:rPr>
              <a:t>Max C. Lauring, Jiguang Wang, Uttiya Basu 等  ·  Columbia / HKUST
Cell 189, 6684–6704 (2026)  ·  DOI: 10.1016/j.cell.2026.07.021</a:t>
            </a:r>
          </a:p>
        </p:txBody>
      </p:sp>
      <p:sp>
        <p:nvSpPr>
          <p:cNvPr id="18" name="Rounded Rectangle 17"/>
          <p:cNvSpPr/>
          <p:nvPr/>
        </p:nvSpPr>
        <p:spPr>
          <a:xfrm>
            <a:off x="6053328" y="1115568"/>
            <a:ext cx="5833872" cy="5349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9632" y="1170432"/>
            <a:ext cx="5559552" cy="256032"/>
          </a:xfrm>
          <a:prstGeom prst="rect">
            <a:avLst/>
          </a:prstGeom>
          <a:noFill/>
        </p:spPr>
        <p:txBody>
          <a:bodyPr wrap="square"/>
          <a:lstStyle/>
          <a:p>
            <a:pPr algn="l">
              <a:spcBef>
                <a:spcPts val="0"/>
              </a:spcBef>
              <a:spcAft>
                <a:spcPts val="0"/>
              </a:spcAft>
            </a:pPr>
            <a:r>
              <a:rPr sz="1100" b="1">
                <a:solidFill>
                  <a:srgbClr val="4B5563"/>
                </a:solidFill>
                <a:latin typeface="WenQuanYi Micro Hei"/>
                <a:ea typeface="WenQuanYi Micro Hei"/>
                <a:cs typeface="WenQuanYi Micro Hei"/>
              </a:rPr>
              <a:t>主图  Graphical abstract（来源：Cell）</a:t>
            </a:r>
          </a:p>
        </p:txBody>
      </p:sp>
      <p:pic>
        <p:nvPicPr>
          <p:cNvPr id="20" name="Picture 19" descr="l1_ga.jpg"/>
          <p:cNvPicPr>
            <a:picLocks noChangeAspect="1"/>
          </p:cNvPicPr>
          <p:nvPr/>
        </p:nvPicPr>
        <p:blipFill>
          <a:blip r:embed="rId2"/>
          <a:stretch>
            <a:fillRect/>
          </a:stretch>
        </p:blipFill>
        <p:spPr>
          <a:xfrm>
            <a:off x="6505956" y="1426464"/>
            <a:ext cx="4928616" cy="4928616"/>
          </a:xfrm>
          <a:prstGeom prst="rect">
            <a:avLst/>
          </a:prstGeom>
        </p:spPr>
      </p:pic>
      <p:sp>
        <p:nvSpPr>
          <p:cNvPr id="21" name="Rectangle 20"/>
          <p:cNvSpPr/>
          <p:nvPr/>
        </p:nvSpPr>
        <p:spPr>
          <a:xfrm>
            <a:off x="0" y="6601968"/>
            <a:ext cx="12191695" cy="25603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601968"/>
            <a:ext cx="8229600" cy="256032"/>
          </a:xfrm>
          <a:prstGeom prst="rect">
            <a:avLst/>
          </a:prstGeom>
          <a:noFill/>
        </p:spPr>
        <p:txBody>
          <a:bodyPr wrap="square"/>
          <a:lstStyle/>
          <a:p>
            <a:pPr algn="l">
              <a:spcBef>
                <a:spcPts val="0"/>
              </a:spcBef>
              <a:spcAft>
                <a:spcPts val="0"/>
              </a:spcAft>
            </a:pPr>
            <a:r>
              <a:rPr sz="1000" b="0">
                <a:solidFill>
                  <a:srgbClr val="FFFFFF"/>
                </a:solidFill>
                <a:latin typeface="WenQuanYi Micro Hei"/>
                <a:ea typeface="WenQuanYi Micro Hei"/>
                <a:cs typeface="WenQuanYi Micro Hei"/>
              </a:rPr>
              <a:t>CNS 三大主刊 2026.10.15 ｜生物医学文献汇报（一文一页）</a:t>
            </a:r>
          </a:p>
        </p:txBody>
      </p:sp>
      <p:sp>
        <p:nvSpPr>
          <p:cNvPr id="23" name="TextBox 22"/>
          <p:cNvSpPr txBox="1"/>
          <p:nvPr/>
        </p:nvSpPr>
        <p:spPr>
          <a:xfrm>
            <a:off x="9692640" y="6601968"/>
            <a:ext cx="2194560" cy="256032"/>
          </a:xfrm>
          <a:prstGeom prst="rect">
            <a:avLst/>
          </a:prstGeom>
          <a:noFill/>
        </p:spPr>
        <p:txBody>
          <a:bodyPr wrap="square"/>
          <a:lstStyle/>
          <a:p>
            <a:pPr algn="r">
              <a:spcBef>
                <a:spcPts val="0"/>
              </a:spcBef>
              <a:spcAft>
                <a:spcPts val="0"/>
              </a:spcAft>
            </a:pPr>
            <a:r>
              <a:rPr sz="1000" b="0">
                <a:solidFill>
                  <a:srgbClr val="FFFFFF"/>
                </a:solidFill>
                <a:latin typeface="WenQuanYi Micro Hei"/>
                <a:ea typeface="WenQuanYi Micro Hei"/>
                <a:cs typeface="WenQuanYi Micro Hei"/>
              </a:rPr>
              <a:t>3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92608" y="201168"/>
            <a:ext cx="1234440" cy="310896"/>
          </a:xfrm>
          <a:prstGeom prst="roundRect">
            <a:avLst>
              <a:gd name="adj" fmla="val 12000"/>
            </a:avLst>
          </a:prstGeom>
          <a:solidFill>
            <a:srgbClr val="C41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201168"/>
            <a:ext cx="1234440" cy="310896"/>
          </a:xfrm>
          <a:prstGeom prst="rect">
            <a:avLst/>
          </a:prstGeom>
          <a:noFill/>
        </p:spPr>
        <p:txBody>
          <a:bodyPr wrap="square"/>
          <a:lstStyle/>
          <a:p>
            <a:pPr algn="ctr">
              <a:spcBef>
                <a:spcPts val="0"/>
              </a:spcBef>
              <a:spcAft>
                <a:spcPts val="0"/>
              </a:spcAft>
            </a:pPr>
            <a:r>
              <a:rPr sz="1200" b="1">
                <a:solidFill>
                  <a:srgbClr val="FFFFFF"/>
                </a:solidFill>
                <a:latin typeface="WenQuanYi Micro Hei"/>
                <a:ea typeface="WenQuanYi Micro Hei"/>
                <a:cs typeface="WenQuanYi Micro Hei"/>
              </a:rPr>
              <a:t>Nature</a:t>
            </a:r>
          </a:p>
        </p:txBody>
      </p:sp>
      <p:sp>
        <p:nvSpPr>
          <p:cNvPr id="6" name="TextBox 5"/>
          <p:cNvSpPr txBox="1"/>
          <p:nvPr/>
        </p:nvSpPr>
        <p:spPr>
          <a:xfrm>
            <a:off x="1645920" y="128016"/>
            <a:ext cx="10241280" cy="384048"/>
          </a:xfrm>
          <a:prstGeom prst="rect">
            <a:avLst/>
          </a:prstGeom>
          <a:noFill/>
        </p:spPr>
        <p:txBody>
          <a:bodyPr wrap="square"/>
          <a:lstStyle/>
          <a:p>
            <a:pPr algn="l">
              <a:spcBef>
                <a:spcPts val="0"/>
              </a:spcBef>
              <a:spcAft>
                <a:spcPts val="0"/>
              </a:spcAft>
            </a:pPr>
            <a:r>
              <a:rPr sz="1800" b="1">
                <a:solidFill>
                  <a:srgbClr val="FFFFFF"/>
                </a:solidFill>
                <a:latin typeface="WenQuanYi Micro Hei"/>
                <a:ea typeface="WenQuanYi Micro Hei"/>
                <a:cs typeface="WenQuanYi Micro Hei"/>
              </a:rPr>
              <a:t>AI 设计合成蛋白组装体，做成比病毒/LNP 更强的 RNA 递送载具</a:t>
            </a:r>
          </a:p>
        </p:txBody>
      </p:sp>
      <p:sp>
        <p:nvSpPr>
          <p:cNvPr id="7" name="TextBox 6"/>
          <p:cNvSpPr txBox="1"/>
          <p:nvPr/>
        </p:nvSpPr>
        <p:spPr>
          <a:xfrm>
            <a:off x="1645920" y="512064"/>
            <a:ext cx="10241280" cy="384048"/>
          </a:xfrm>
          <a:prstGeom prst="rect">
            <a:avLst/>
          </a:prstGeom>
          <a:noFill/>
        </p:spPr>
        <p:txBody>
          <a:bodyPr wrap="square"/>
          <a:lstStyle/>
          <a:p>
            <a:pPr algn="l">
              <a:spcBef>
                <a:spcPts val="0"/>
              </a:spcBef>
              <a:spcAft>
                <a:spcPts val="0"/>
              </a:spcAft>
            </a:pPr>
            <a:r>
              <a:rPr sz="1100" b="0">
                <a:solidFill>
                  <a:srgbClr val="D0DCE8"/>
                </a:solidFill>
                <a:latin typeface="WenQuanYi Micro Hei"/>
                <a:ea typeface="WenQuanYi Micro Hei"/>
                <a:cs typeface="WenQuanYi Micro Hei"/>
              </a:rPr>
              <a:t>Creating bottom-up RNA transfer vehicles from synthetic protein assemblies  ·  Schuhmacher / Wurst</a:t>
            </a:r>
          </a:p>
        </p:txBody>
      </p:sp>
      <p:sp>
        <p:nvSpPr>
          <p:cNvPr id="8" name="Rounded Rectangle 7"/>
          <p:cNvSpPr/>
          <p:nvPr/>
        </p:nvSpPr>
        <p:spPr>
          <a:xfrm>
            <a:off x="292608" y="1115568"/>
            <a:ext cx="5623560" cy="10789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188720"/>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解决什么问题</a:t>
            </a:r>
          </a:p>
        </p:txBody>
      </p:sp>
      <p:sp>
        <p:nvSpPr>
          <p:cNvPr id="10" name="TextBox 9"/>
          <p:cNvSpPr txBox="1"/>
          <p:nvPr/>
        </p:nvSpPr>
        <p:spPr>
          <a:xfrm>
            <a:off x="438912" y="1444752"/>
            <a:ext cx="5367528" cy="676656"/>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天然病毒衣壳受进化约束，尺寸/形状趋同；临床 LNP 递送效率与靶向性仍有限。能否完全抛开天然衣壳，用生成式蛋白设计从头做 RNA 运输系统？</a:t>
            </a:r>
          </a:p>
        </p:txBody>
      </p:sp>
      <p:sp>
        <p:nvSpPr>
          <p:cNvPr id="11" name="Rounded Rectangle 10"/>
          <p:cNvSpPr/>
          <p:nvPr/>
        </p:nvSpPr>
        <p:spPr>
          <a:xfrm>
            <a:off x="292608" y="2304288"/>
            <a:ext cx="5623560" cy="14173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2359152"/>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做了什么</a:t>
            </a:r>
          </a:p>
        </p:txBody>
      </p:sp>
      <p:sp>
        <p:nvSpPr>
          <p:cNvPr id="13" name="TextBox 12"/>
          <p:cNvSpPr txBox="1"/>
          <p:nvPr/>
        </p:nvSpPr>
        <p:spPr>
          <a:xfrm>
            <a:off x="438912" y="2615184"/>
            <a:ext cx="5367528" cy="102412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把 RFdiffusion 设计的合成蛋白组装体，与膜结合、出芽、RNA 结合结构域融合，筛 &gt;100 种 bottom-up 合成转运载具（STV）。最优为平面 C8 对称的 STV-C8。</a:t>
            </a:r>
          </a:p>
        </p:txBody>
      </p:sp>
      <p:sp>
        <p:nvSpPr>
          <p:cNvPr id="14" name="Rounded Rectangle 13"/>
          <p:cNvSpPr/>
          <p:nvPr/>
        </p:nvSpPr>
        <p:spPr>
          <a:xfrm>
            <a:off x="292608" y="3822191"/>
            <a:ext cx="5623560" cy="178308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 y="3877056"/>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关键结论</a:t>
            </a:r>
          </a:p>
        </p:txBody>
      </p:sp>
      <p:sp>
        <p:nvSpPr>
          <p:cNvPr id="16" name="TextBox 15"/>
          <p:cNvSpPr txBox="1"/>
          <p:nvPr/>
        </p:nvSpPr>
        <p:spPr>
          <a:xfrm>
            <a:off x="402336" y="4133087"/>
            <a:ext cx="5404104" cy="1389888"/>
          </a:xfrm>
          <a:prstGeom prst="rect">
            <a:avLst/>
          </a:prstGeom>
          <a:noFill/>
        </p:spPr>
        <p:txBody>
          <a:bodyPr wrap="square">
            <a:spAutoFit/>
          </a:bodyPr>
          <a:lstStyle/>
          <a:p>
            <a:pPr algn="l">
              <a:spcAft>
                <a:spcPts val="600"/>
              </a:spcAft>
            </a:pPr>
            <a:r>
              <a:rPr sz="1300" b="0">
                <a:solidFill>
                  <a:srgbClr val="1F2937"/>
                </a:solidFill>
                <a:latin typeface="WenQuanYi Micro Hei"/>
                <a:ea typeface="WenQuanYi Micro Hei"/>
                <a:cs typeface="WenQuanYi Micro Hei"/>
              </a:rPr>
              <a:t>•  STV-C8 的 RNA 递送效率比常用病毒样颗粒和临床 LNP 高数个数量级。</a:t>
            </a:r>
          </a:p>
          <a:p>
            <a:pPr algn="l">
              <a:spcAft>
                <a:spcPts val="600"/>
              </a:spcAft>
            </a:pPr>
            <a:r>
              <a:rPr sz="1300" b="0">
                <a:solidFill>
                  <a:srgbClr val="1F2937"/>
                </a:solidFill>
                <a:latin typeface="WenQuanYi Micro Hei"/>
                <a:ea typeface="WenQuanYi Micro Hei"/>
                <a:cs typeface="WenQuanYi Micro Hei"/>
              </a:rPr>
              <a:t>•  可用计算设计的肽结合体编程嗜性；可运载报告 RNA、基因编辑器、抗病毒 RNA、转录因子。</a:t>
            </a:r>
          </a:p>
          <a:p>
            <a:pPr algn="l">
              <a:spcAft>
                <a:spcPts val="600"/>
              </a:spcAft>
            </a:pPr>
            <a:r>
              <a:rPr sz="1300" b="0">
                <a:solidFill>
                  <a:srgbClr val="1F2937"/>
                </a:solidFill>
                <a:latin typeface="WenQuanYi Micro Hei"/>
                <a:ea typeface="WenQuanYi Micro Hei"/>
                <a:cs typeface="WenQuanYi Micro Hei"/>
              </a:rPr>
              <a:t>•  小鼠近单细胞分辨率 biodistribution 显示安全性良好；在患者来源细胞和猪中递送 Cas9，删除 dystrophin 第 51 外显子（DMD 策略）。</a:t>
            </a:r>
          </a:p>
        </p:txBody>
      </p:sp>
      <p:sp>
        <p:nvSpPr>
          <p:cNvPr id="17" name="TextBox 16"/>
          <p:cNvSpPr txBox="1"/>
          <p:nvPr/>
        </p:nvSpPr>
        <p:spPr>
          <a:xfrm>
            <a:off x="292608" y="5650992"/>
            <a:ext cx="5623560" cy="841248"/>
          </a:xfrm>
          <a:prstGeom prst="rect">
            <a:avLst/>
          </a:prstGeom>
          <a:noFill/>
        </p:spPr>
        <p:txBody>
          <a:bodyPr wrap="square"/>
          <a:lstStyle/>
          <a:p>
            <a:pPr algn="l">
              <a:spcBef>
                <a:spcPts val="0"/>
              </a:spcBef>
              <a:spcAft>
                <a:spcPts val="0"/>
              </a:spcAft>
            </a:pPr>
            <a:r>
              <a:rPr sz="1000" b="0">
                <a:solidFill>
                  <a:srgbClr val="4B5563"/>
                </a:solidFill>
                <a:latin typeface="WenQuanYi Micro Hei"/>
                <a:ea typeface="WenQuanYi Micro Hei"/>
                <a:cs typeface="WenQuanYi Micro Hei"/>
              </a:rPr>
              <a:t>Maren Kirstin Schuhmacher, Wolfgang Wurst 等  ·  Helmholtz / TUM
Nature 658, 805–814 (2026)  ·  DOI: 10.1038/s41586-026-10952-3</a:t>
            </a:r>
          </a:p>
        </p:txBody>
      </p:sp>
      <p:sp>
        <p:nvSpPr>
          <p:cNvPr id="18" name="Rounded Rectangle 17"/>
          <p:cNvSpPr/>
          <p:nvPr/>
        </p:nvSpPr>
        <p:spPr>
          <a:xfrm>
            <a:off x="6053328" y="1115568"/>
            <a:ext cx="5833872" cy="5349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9632" y="1170432"/>
            <a:ext cx="5559552" cy="256032"/>
          </a:xfrm>
          <a:prstGeom prst="rect">
            <a:avLst/>
          </a:prstGeom>
          <a:noFill/>
        </p:spPr>
        <p:txBody>
          <a:bodyPr wrap="square"/>
          <a:lstStyle/>
          <a:p>
            <a:pPr algn="l">
              <a:spcBef>
                <a:spcPts val="0"/>
              </a:spcBef>
              <a:spcAft>
                <a:spcPts val="0"/>
              </a:spcAft>
            </a:pPr>
            <a:r>
              <a:rPr sz="1100" b="1">
                <a:solidFill>
                  <a:srgbClr val="4B5563"/>
                </a:solidFill>
                <a:latin typeface="WenQuanYi Micro Hei"/>
                <a:ea typeface="WenQuanYi Micro Hei"/>
                <a:cs typeface="WenQuanYi Micro Hei"/>
              </a:rPr>
              <a:t>主图  Figure 1（来源：Nature）</a:t>
            </a:r>
          </a:p>
        </p:txBody>
      </p:sp>
      <p:pic>
        <p:nvPicPr>
          <p:cNvPr id="20" name="Picture 19" descr="stv_fig1.png"/>
          <p:cNvPicPr>
            <a:picLocks noChangeAspect="1"/>
          </p:cNvPicPr>
          <p:nvPr/>
        </p:nvPicPr>
        <p:blipFill>
          <a:blip r:embed="rId2"/>
          <a:stretch>
            <a:fillRect/>
          </a:stretch>
        </p:blipFill>
        <p:spPr>
          <a:xfrm>
            <a:off x="6848015" y="1426464"/>
            <a:ext cx="4244497" cy="4928616"/>
          </a:xfrm>
          <a:prstGeom prst="rect">
            <a:avLst/>
          </a:prstGeom>
        </p:spPr>
      </p:pic>
      <p:sp>
        <p:nvSpPr>
          <p:cNvPr id="21" name="Rectangle 20"/>
          <p:cNvSpPr/>
          <p:nvPr/>
        </p:nvSpPr>
        <p:spPr>
          <a:xfrm>
            <a:off x="0" y="6601968"/>
            <a:ext cx="12191695" cy="25603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601968"/>
            <a:ext cx="8229600" cy="256032"/>
          </a:xfrm>
          <a:prstGeom prst="rect">
            <a:avLst/>
          </a:prstGeom>
          <a:noFill/>
        </p:spPr>
        <p:txBody>
          <a:bodyPr wrap="square"/>
          <a:lstStyle/>
          <a:p>
            <a:pPr algn="l">
              <a:spcBef>
                <a:spcPts val="0"/>
              </a:spcBef>
              <a:spcAft>
                <a:spcPts val="0"/>
              </a:spcAft>
            </a:pPr>
            <a:r>
              <a:rPr sz="1000" b="0">
                <a:solidFill>
                  <a:srgbClr val="FFFFFF"/>
                </a:solidFill>
                <a:latin typeface="WenQuanYi Micro Hei"/>
                <a:ea typeface="WenQuanYi Micro Hei"/>
                <a:cs typeface="WenQuanYi Micro Hei"/>
              </a:rPr>
              <a:t>CNS 三大主刊 2026.10.15 ｜生物医学文献汇报（一文一页）</a:t>
            </a:r>
          </a:p>
        </p:txBody>
      </p:sp>
      <p:sp>
        <p:nvSpPr>
          <p:cNvPr id="23" name="TextBox 22"/>
          <p:cNvSpPr txBox="1"/>
          <p:nvPr/>
        </p:nvSpPr>
        <p:spPr>
          <a:xfrm>
            <a:off x="9692640" y="6601968"/>
            <a:ext cx="2194560" cy="256032"/>
          </a:xfrm>
          <a:prstGeom prst="rect">
            <a:avLst/>
          </a:prstGeom>
          <a:noFill/>
        </p:spPr>
        <p:txBody>
          <a:bodyPr wrap="square"/>
          <a:lstStyle/>
          <a:p>
            <a:pPr algn="r">
              <a:spcBef>
                <a:spcPts val="0"/>
              </a:spcBef>
              <a:spcAft>
                <a:spcPts val="0"/>
              </a:spcAft>
            </a:pPr>
            <a:r>
              <a:rPr sz="1000" b="0">
                <a:solidFill>
                  <a:srgbClr val="FFFFFF"/>
                </a:solidFill>
                <a:latin typeface="WenQuanYi Micro Hei"/>
                <a:ea typeface="WenQuanYi Micro Hei"/>
                <a:cs typeface="WenQuanYi Micro Hei"/>
              </a:rPr>
              <a:t>4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92608" y="201168"/>
            <a:ext cx="1234440" cy="310896"/>
          </a:xfrm>
          <a:prstGeom prst="roundRect">
            <a:avLst>
              <a:gd name="adj" fmla="val 12000"/>
            </a:avLst>
          </a:prstGeom>
          <a:solidFill>
            <a:srgbClr val="C41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201168"/>
            <a:ext cx="1234440" cy="310896"/>
          </a:xfrm>
          <a:prstGeom prst="rect">
            <a:avLst/>
          </a:prstGeom>
          <a:noFill/>
        </p:spPr>
        <p:txBody>
          <a:bodyPr wrap="square"/>
          <a:lstStyle/>
          <a:p>
            <a:pPr algn="ctr">
              <a:spcBef>
                <a:spcPts val="0"/>
              </a:spcBef>
              <a:spcAft>
                <a:spcPts val="0"/>
              </a:spcAft>
            </a:pPr>
            <a:r>
              <a:rPr sz="1200" b="1">
                <a:solidFill>
                  <a:srgbClr val="FFFFFF"/>
                </a:solidFill>
                <a:latin typeface="WenQuanYi Micro Hei"/>
                <a:ea typeface="WenQuanYi Micro Hei"/>
                <a:cs typeface="WenQuanYi Micro Hei"/>
              </a:rPr>
              <a:t>Nature</a:t>
            </a:r>
          </a:p>
        </p:txBody>
      </p:sp>
      <p:sp>
        <p:nvSpPr>
          <p:cNvPr id="6" name="TextBox 5"/>
          <p:cNvSpPr txBox="1"/>
          <p:nvPr/>
        </p:nvSpPr>
        <p:spPr>
          <a:xfrm>
            <a:off x="1645920" y="128016"/>
            <a:ext cx="10241280" cy="384048"/>
          </a:xfrm>
          <a:prstGeom prst="rect">
            <a:avLst/>
          </a:prstGeom>
          <a:noFill/>
        </p:spPr>
        <p:txBody>
          <a:bodyPr wrap="square"/>
          <a:lstStyle/>
          <a:p>
            <a:pPr algn="l">
              <a:spcBef>
                <a:spcPts val="0"/>
              </a:spcBef>
              <a:spcAft>
                <a:spcPts val="0"/>
              </a:spcAft>
            </a:pPr>
            <a:r>
              <a:rPr sz="1800" b="1">
                <a:solidFill>
                  <a:srgbClr val="FFFFFF"/>
                </a:solidFill>
                <a:latin typeface="WenQuanYi Micro Hei"/>
                <a:ea typeface="WenQuanYi Micro Hei"/>
                <a:cs typeface="WenQuanYi Micro Hei"/>
              </a:rPr>
              <a:t>Binding-to-release：结合口袋里就裂解，靶向递药不再依赖内吞</a:t>
            </a:r>
          </a:p>
        </p:txBody>
      </p:sp>
      <p:sp>
        <p:nvSpPr>
          <p:cNvPr id="7" name="TextBox 6"/>
          <p:cNvSpPr txBox="1"/>
          <p:nvPr/>
        </p:nvSpPr>
        <p:spPr>
          <a:xfrm>
            <a:off x="1645920" y="512064"/>
            <a:ext cx="10241280" cy="384048"/>
          </a:xfrm>
          <a:prstGeom prst="rect">
            <a:avLst/>
          </a:prstGeom>
          <a:noFill/>
        </p:spPr>
        <p:txBody>
          <a:bodyPr wrap="square"/>
          <a:lstStyle/>
          <a:p>
            <a:pPr algn="l">
              <a:spcBef>
                <a:spcPts val="0"/>
              </a:spcBef>
              <a:spcAft>
                <a:spcPts val="0"/>
              </a:spcAft>
            </a:pPr>
            <a:r>
              <a:rPr sz="1100" b="0">
                <a:solidFill>
                  <a:srgbClr val="D0DCE8"/>
                </a:solidFill>
                <a:latin typeface="WenQuanYi Micro Hei"/>
                <a:ea typeface="WenQuanYi Micro Hei"/>
                <a:cs typeface="WenQuanYi Micro Hei"/>
              </a:rPr>
              <a:t>A binding-to-release strategy for targeted anticancer drug delivery  ·  Wen / Liu</a:t>
            </a:r>
          </a:p>
        </p:txBody>
      </p:sp>
      <p:sp>
        <p:nvSpPr>
          <p:cNvPr id="8" name="Rounded Rectangle 7"/>
          <p:cNvSpPr/>
          <p:nvPr/>
        </p:nvSpPr>
        <p:spPr>
          <a:xfrm>
            <a:off x="292608" y="1115568"/>
            <a:ext cx="5623560" cy="10789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188720"/>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解决什么问题</a:t>
            </a:r>
          </a:p>
        </p:txBody>
      </p:sp>
      <p:sp>
        <p:nvSpPr>
          <p:cNvPr id="10" name="TextBox 9"/>
          <p:cNvSpPr txBox="1"/>
          <p:nvPr/>
        </p:nvSpPr>
        <p:spPr>
          <a:xfrm>
            <a:off x="438912" y="1444752"/>
            <a:ext cx="5367528" cy="676656"/>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ADC/SMDC 大多走 internalization-to-release（ITR）。约 90% 膜蛋白内吞差，结合后药物很快解离被清除，可用靶点被严重限制。</a:t>
            </a:r>
          </a:p>
        </p:txBody>
      </p:sp>
      <p:sp>
        <p:nvSpPr>
          <p:cNvPr id="11" name="Rounded Rectangle 10"/>
          <p:cNvSpPr/>
          <p:nvPr/>
        </p:nvSpPr>
        <p:spPr>
          <a:xfrm>
            <a:off x="292608" y="2304288"/>
            <a:ext cx="5623560" cy="14173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2359152"/>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做了什么</a:t>
            </a:r>
          </a:p>
        </p:txBody>
      </p:sp>
      <p:sp>
        <p:nvSpPr>
          <p:cNvPr id="13" name="TextBox 12"/>
          <p:cNvSpPr txBox="1"/>
          <p:nvPr/>
        </p:nvSpPr>
        <p:spPr>
          <a:xfrm>
            <a:off x="438912" y="2615184"/>
            <a:ext cx="5367528" cy="102412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提出 binding-to-release（BTR）：配体结合后，连接子被结合口袋里邻近亲核残基直接切断。开发磷(V)–酚交换化学 PhoPEx（受 SuFEx 启发），实现循环稳定、邻近触发释放。</a:t>
            </a:r>
          </a:p>
        </p:txBody>
      </p:sp>
      <p:sp>
        <p:nvSpPr>
          <p:cNvPr id="14" name="Rounded Rectangle 13"/>
          <p:cNvSpPr/>
          <p:nvPr/>
        </p:nvSpPr>
        <p:spPr>
          <a:xfrm>
            <a:off x="292608" y="3822191"/>
            <a:ext cx="5623560" cy="178308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 y="3877056"/>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关键结论</a:t>
            </a:r>
          </a:p>
        </p:txBody>
      </p:sp>
      <p:sp>
        <p:nvSpPr>
          <p:cNvPr id="16" name="TextBox 15"/>
          <p:cNvSpPr txBox="1"/>
          <p:nvPr/>
        </p:nvSpPr>
        <p:spPr>
          <a:xfrm>
            <a:off x="402336" y="4133087"/>
            <a:ext cx="5404104" cy="1389888"/>
          </a:xfrm>
          <a:prstGeom prst="rect">
            <a:avLst/>
          </a:prstGeom>
          <a:noFill/>
        </p:spPr>
        <p:txBody>
          <a:bodyPr wrap="square">
            <a:spAutoFit/>
          </a:bodyPr>
          <a:lstStyle/>
          <a:p>
            <a:pPr algn="l">
              <a:spcAft>
                <a:spcPts val="600"/>
              </a:spcAft>
            </a:pPr>
            <a:r>
              <a:rPr sz="1300" b="0">
                <a:solidFill>
                  <a:srgbClr val="1F2937"/>
                </a:solidFill>
                <a:latin typeface="WenQuanYi Micro Hei"/>
                <a:ea typeface="WenQuanYi Micro Hei"/>
                <a:cs typeface="WenQuanYi Micro Hei"/>
              </a:rPr>
              <a:t>•  FAP 的 Tyr745 可触发裂解；无需内吞即可在瘤灶释放可通透细胞的 payload。</a:t>
            </a:r>
          </a:p>
          <a:p>
            <a:pPr algn="l">
              <a:spcAft>
                <a:spcPts val="600"/>
              </a:spcAft>
            </a:pPr>
            <a:r>
              <a:rPr sz="1300" b="0">
                <a:solidFill>
                  <a:srgbClr val="1F2937"/>
                </a:solidFill>
                <a:latin typeface="WenQuanYi Micro Hei"/>
                <a:ea typeface="WenQuanYi Micro Hei"/>
                <a:cs typeface="WenQuanYi Micro Hei"/>
              </a:rPr>
              <a:t>•  FAP-BTR-SMDC 瘤内 MMAE 暴露（AUC0–120 h）是内吞依赖 SMDC 的 5.9 倍，瘤/血、瘤/肝比显著优于 ITR-SMDC 和 ITR-ADC。</a:t>
            </a:r>
          </a:p>
          <a:p>
            <a:pPr algn="l">
              <a:spcAft>
                <a:spcPts val="600"/>
              </a:spcAft>
            </a:pPr>
            <a:r>
              <a:rPr sz="1300" b="0">
                <a:solidFill>
                  <a:srgbClr val="1F2937"/>
                </a:solidFill>
                <a:latin typeface="WenQuanYi Micro Hei"/>
                <a:ea typeface="WenQuanYi Micro Hei"/>
                <a:cs typeface="WenQuanYi Micro Hei"/>
              </a:rPr>
              <a:t>•  多种瘤模型接近完全消退；并扩展到 PD-L1 及 mRNA display 得到的 FAP 肽，扩大靶点范围。</a:t>
            </a:r>
          </a:p>
        </p:txBody>
      </p:sp>
      <p:sp>
        <p:nvSpPr>
          <p:cNvPr id="17" name="TextBox 16"/>
          <p:cNvSpPr txBox="1"/>
          <p:nvPr/>
        </p:nvSpPr>
        <p:spPr>
          <a:xfrm>
            <a:off x="292608" y="5650992"/>
            <a:ext cx="5623560" cy="841248"/>
          </a:xfrm>
          <a:prstGeom prst="rect">
            <a:avLst/>
          </a:prstGeom>
          <a:noFill/>
        </p:spPr>
        <p:txBody>
          <a:bodyPr wrap="square"/>
          <a:lstStyle/>
          <a:p>
            <a:pPr algn="l">
              <a:spcBef>
                <a:spcPts val="0"/>
              </a:spcBef>
              <a:spcAft>
                <a:spcPts val="0"/>
              </a:spcAft>
            </a:pPr>
            <a:r>
              <a:rPr sz="1000" b="0">
                <a:solidFill>
                  <a:srgbClr val="4B5563"/>
                </a:solidFill>
                <a:latin typeface="WenQuanYi Micro Hei"/>
                <a:ea typeface="WenQuanYi Micro Hei"/>
                <a:cs typeface="WenQuanYi Micro Hei"/>
              </a:rPr>
              <a:t>文梓豪、徐梦欣、刘志博 等  ·  北京大学
Nature 658, 785–794 (2026)  ·  DOI: 10.1038/s41586-026-10971-0</a:t>
            </a:r>
          </a:p>
        </p:txBody>
      </p:sp>
      <p:sp>
        <p:nvSpPr>
          <p:cNvPr id="18" name="Rounded Rectangle 17"/>
          <p:cNvSpPr/>
          <p:nvPr/>
        </p:nvSpPr>
        <p:spPr>
          <a:xfrm>
            <a:off x="6053328" y="1115568"/>
            <a:ext cx="5833872" cy="5349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9632" y="1170432"/>
            <a:ext cx="5559552" cy="256032"/>
          </a:xfrm>
          <a:prstGeom prst="rect">
            <a:avLst/>
          </a:prstGeom>
          <a:noFill/>
        </p:spPr>
        <p:txBody>
          <a:bodyPr wrap="square"/>
          <a:lstStyle/>
          <a:p>
            <a:pPr algn="l">
              <a:spcBef>
                <a:spcPts val="0"/>
              </a:spcBef>
              <a:spcAft>
                <a:spcPts val="0"/>
              </a:spcAft>
            </a:pPr>
            <a:r>
              <a:rPr sz="1100" b="1">
                <a:solidFill>
                  <a:srgbClr val="4B5563"/>
                </a:solidFill>
                <a:latin typeface="WenQuanYi Micro Hei"/>
                <a:ea typeface="WenQuanYi Micro Hei"/>
                <a:cs typeface="WenQuanYi Micro Hei"/>
              </a:rPr>
              <a:t>主图  Figure 1（来源：Nature）</a:t>
            </a:r>
          </a:p>
        </p:txBody>
      </p:sp>
      <p:pic>
        <p:nvPicPr>
          <p:cNvPr id="20" name="Picture 19" descr="btr_fig1.png"/>
          <p:cNvPicPr>
            <a:picLocks noChangeAspect="1"/>
          </p:cNvPicPr>
          <p:nvPr/>
        </p:nvPicPr>
        <p:blipFill>
          <a:blip r:embed="rId2"/>
          <a:stretch>
            <a:fillRect/>
          </a:stretch>
        </p:blipFill>
        <p:spPr>
          <a:xfrm>
            <a:off x="7069687" y="1426464"/>
            <a:ext cx="3801154" cy="4928616"/>
          </a:xfrm>
          <a:prstGeom prst="rect">
            <a:avLst/>
          </a:prstGeom>
        </p:spPr>
      </p:pic>
      <p:sp>
        <p:nvSpPr>
          <p:cNvPr id="21" name="Rectangle 20"/>
          <p:cNvSpPr/>
          <p:nvPr/>
        </p:nvSpPr>
        <p:spPr>
          <a:xfrm>
            <a:off x="0" y="6601968"/>
            <a:ext cx="12191695" cy="25603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601968"/>
            <a:ext cx="8229600" cy="256032"/>
          </a:xfrm>
          <a:prstGeom prst="rect">
            <a:avLst/>
          </a:prstGeom>
          <a:noFill/>
        </p:spPr>
        <p:txBody>
          <a:bodyPr wrap="square"/>
          <a:lstStyle/>
          <a:p>
            <a:pPr algn="l">
              <a:spcBef>
                <a:spcPts val="0"/>
              </a:spcBef>
              <a:spcAft>
                <a:spcPts val="0"/>
              </a:spcAft>
            </a:pPr>
            <a:r>
              <a:rPr sz="1000" b="0">
                <a:solidFill>
                  <a:srgbClr val="FFFFFF"/>
                </a:solidFill>
                <a:latin typeface="WenQuanYi Micro Hei"/>
                <a:ea typeface="WenQuanYi Micro Hei"/>
                <a:cs typeface="WenQuanYi Micro Hei"/>
              </a:rPr>
              <a:t>CNS 三大主刊 2026.10.15 ｜生物医学文献汇报（一文一页）</a:t>
            </a:r>
          </a:p>
        </p:txBody>
      </p:sp>
      <p:sp>
        <p:nvSpPr>
          <p:cNvPr id="23" name="TextBox 22"/>
          <p:cNvSpPr txBox="1"/>
          <p:nvPr/>
        </p:nvSpPr>
        <p:spPr>
          <a:xfrm>
            <a:off x="9692640" y="6601968"/>
            <a:ext cx="2194560" cy="256032"/>
          </a:xfrm>
          <a:prstGeom prst="rect">
            <a:avLst/>
          </a:prstGeom>
          <a:noFill/>
        </p:spPr>
        <p:txBody>
          <a:bodyPr wrap="square"/>
          <a:lstStyle/>
          <a:p>
            <a:pPr algn="r">
              <a:spcBef>
                <a:spcPts val="0"/>
              </a:spcBef>
              <a:spcAft>
                <a:spcPts val="0"/>
              </a:spcAft>
            </a:pPr>
            <a:r>
              <a:rPr sz="1000" b="0">
                <a:solidFill>
                  <a:srgbClr val="FFFFFF"/>
                </a:solidFill>
                <a:latin typeface="WenQuanYi Micro Hei"/>
                <a:ea typeface="WenQuanYi Micro Hei"/>
                <a:cs typeface="WenQuanYi Micro Hei"/>
              </a:rPr>
              <a:t>5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92608" y="201168"/>
            <a:ext cx="1234440" cy="310896"/>
          </a:xfrm>
          <a:prstGeom prst="roundRect">
            <a:avLst>
              <a:gd name="adj" fmla="val 12000"/>
            </a:avLst>
          </a:prstGeom>
          <a:solidFill>
            <a:srgbClr val="C41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201168"/>
            <a:ext cx="1234440" cy="310896"/>
          </a:xfrm>
          <a:prstGeom prst="rect">
            <a:avLst/>
          </a:prstGeom>
          <a:noFill/>
        </p:spPr>
        <p:txBody>
          <a:bodyPr wrap="square"/>
          <a:lstStyle/>
          <a:p>
            <a:pPr algn="ctr">
              <a:spcBef>
                <a:spcPts val="0"/>
              </a:spcBef>
              <a:spcAft>
                <a:spcPts val="0"/>
              </a:spcAft>
            </a:pPr>
            <a:r>
              <a:rPr sz="1200" b="1">
                <a:solidFill>
                  <a:srgbClr val="FFFFFF"/>
                </a:solidFill>
                <a:latin typeface="WenQuanYi Micro Hei"/>
                <a:ea typeface="WenQuanYi Micro Hei"/>
                <a:cs typeface="WenQuanYi Micro Hei"/>
              </a:rPr>
              <a:t>Nature</a:t>
            </a:r>
          </a:p>
        </p:txBody>
      </p:sp>
      <p:sp>
        <p:nvSpPr>
          <p:cNvPr id="6" name="TextBox 5"/>
          <p:cNvSpPr txBox="1"/>
          <p:nvPr/>
        </p:nvSpPr>
        <p:spPr>
          <a:xfrm>
            <a:off x="1645920" y="128016"/>
            <a:ext cx="10241280" cy="384048"/>
          </a:xfrm>
          <a:prstGeom prst="rect">
            <a:avLst/>
          </a:prstGeom>
          <a:noFill/>
        </p:spPr>
        <p:txBody>
          <a:bodyPr wrap="square"/>
          <a:lstStyle/>
          <a:p>
            <a:pPr algn="l">
              <a:spcBef>
                <a:spcPts val="0"/>
              </a:spcBef>
              <a:spcAft>
                <a:spcPts val="0"/>
              </a:spcAft>
            </a:pPr>
            <a:r>
              <a:rPr sz="1800" b="1">
                <a:solidFill>
                  <a:srgbClr val="FFFFFF"/>
                </a:solidFill>
                <a:latin typeface="WenQuanYi Micro Hei"/>
                <a:ea typeface="WenQuanYi Micro Hei"/>
                <a:cs typeface="WenQuanYi Micro Hei"/>
              </a:rPr>
              <a:t>成体恢复海马 PV 中间神经元可塑性，可逆转神经发育障碍的认知与癫痫表型</a:t>
            </a:r>
          </a:p>
        </p:txBody>
      </p:sp>
      <p:sp>
        <p:nvSpPr>
          <p:cNvPr id="7" name="TextBox 6"/>
          <p:cNvSpPr txBox="1"/>
          <p:nvPr/>
        </p:nvSpPr>
        <p:spPr>
          <a:xfrm>
            <a:off x="1645920" y="512064"/>
            <a:ext cx="10241280" cy="384048"/>
          </a:xfrm>
          <a:prstGeom prst="rect">
            <a:avLst/>
          </a:prstGeom>
          <a:noFill/>
        </p:spPr>
        <p:txBody>
          <a:bodyPr wrap="square"/>
          <a:lstStyle/>
          <a:p>
            <a:pPr algn="l">
              <a:spcBef>
                <a:spcPts val="0"/>
              </a:spcBef>
              <a:spcAft>
                <a:spcPts val="0"/>
              </a:spcAft>
            </a:pPr>
            <a:r>
              <a:rPr sz="1100" b="0">
                <a:solidFill>
                  <a:srgbClr val="D0DCE8"/>
                </a:solidFill>
                <a:latin typeface="WenQuanYi Micro Hei"/>
                <a:ea typeface="WenQuanYi Micro Hei"/>
                <a:cs typeface="WenQuanYi Micro Hei"/>
              </a:rPr>
              <a:t>Procognitive restoration of PV neuron plasticity in neurodevelopmental disorders  ·  Shih / Sahay</a:t>
            </a:r>
          </a:p>
        </p:txBody>
      </p:sp>
      <p:sp>
        <p:nvSpPr>
          <p:cNvPr id="8" name="Rounded Rectangle 7"/>
          <p:cNvSpPr/>
          <p:nvPr/>
        </p:nvSpPr>
        <p:spPr>
          <a:xfrm>
            <a:off x="292608" y="1115568"/>
            <a:ext cx="5623560" cy="10789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188720"/>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解决什么问题</a:t>
            </a:r>
          </a:p>
        </p:txBody>
      </p:sp>
      <p:sp>
        <p:nvSpPr>
          <p:cNvPr id="10" name="TextBox 9"/>
          <p:cNvSpPr txBox="1"/>
          <p:nvPr/>
        </p:nvSpPr>
        <p:spPr>
          <a:xfrm>
            <a:off x="438912" y="1444752"/>
            <a:ext cx="5367528" cy="676656"/>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NDD（自闭、癫痫等）常被认为是发育窗口关闭后不可逆。PV 中间神经元早期受损导致网络过兴奋，成年还能不能把环路和认知拉回来？</a:t>
            </a:r>
          </a:p>
        </p:txBody>
      </p:sp>
      <p:sp>
        <p:nvSpPr>
          <p:cNvPr id="11" name="Rounded Rectangle 10"/>
          <p:cNvSpPr/>
          <p:nvPr/>
        </p:nvSpPr>
        <p:spPr>
          <a:xfrm>
            <a:off x="292608" y="2304288"/>
            <a:ext cx="5623560" cy="14173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2359152"/>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做了什么</a:t>
            </a:r>
          </a:p>
        </p:txBody>
      </p:sp>
      <p:sp>
        <p:nvSpPr>
          <p:cNvPr id="13" name="TextBox 12"/>
          <p:cNvSpPr txBox="1"/>
          <p:nvPr/>
        </p:nvSpPr>
        <p:spPr>
          <a:xfrm>
            <a:off x="438912" y="2615184"/>
            <a:ext cx="5367528" cy="102412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用输入特异的转译组筛选，鉴定成体 CA3/CA2 中“经验依赖 PV 可塑性基因”（XPG）。大量 XPG 在自闭/癫痫/双相/精分中呈单倍不足。在成年 Cntnap2−/− 小鼠的 PV 神经元中上调候选基因 Meis2。</a:t>
            </a:r>
          </a:p>
        </p:txBody>
      </p:sp>
      <p:sp>
        <p:nvSpPr>
          <p:cNvPr id="14" name="Rounded Rectangle 13"/>
          <p:cNvSpPr/>
          <p:nvPr/>
        </p:nvSpPr>
        <p:spPr>
          <a:xfrm>
            <a:off x="292608" y="3822191"/>
            <a:ext cx="5623560" cy="178308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 y="3877056"/>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关键结论</a:t>
            </a:r>
          </a:p>
        </p:txBody>
      </p:sp>
      <p:sp>
        <p:nvSpPr>
          <p:cNvPr id="16" name="TextBox 15"/>
          <p:cNvSpPr txBox="1"/>
          <p:nvPr/>
        </p:nvSpPr>
        <p:spPr>
          <a:xfrm>
            <a:off x="402336" y="4133087"/>
            <a:ext cx="5404104" cy="1389888"/>
          </a:xfrm>
          <a:prstGeom prst="rect">
            <a:avLst/>
          </a:prstGeom>
          <a:noFill/>
        </p:spPr>
        <p:txBody>
          <a:bodyPr wrap="square">
            <a:spAutoFit/>
          </a:bodyPr>
          <a:lstStyle/>
          <a:p>
            <a:pPr algn="l">
              <a:spcAft>
                <a:spcPts val="600"/>
              </a:spcAft>
            </a:pPr>
            <a:r>
              <a:rPr sz="1300" b="0">
                <a:solidFill>
                  <a:srgbClr val="1F2937"/>
                </a:solidFill>
                <a:latin typeface="WenQuanYi Micro Hei"/>
                <a:ea typeface="WenQuanYi Micro Hei"/>
                <a:cs typeface="WenQuanYi Micro Hei"/>
              </a:rPr>
              <a:t>•  Meis2 足以恢复经验依赖的 PV 可塑性、兴奋–抑制平衡。</a:t>
            </a:r>
          </a:p>
          <a:p>
            <a:pPr algn="l">
              <a:spcAft>
                <a:spcPts val="600"/>
              </a:spcAft>
            </a:pPr>
            <a:r>
              <a:rPr sz="1300" b="0">
                <a:solidFill>
                  <a:srgbClr val="1F2937"/>
                </a:solidFill>
                <a:latin typeface="WenQuanYi Micro Hei"/>
                <a:ea typeface="WenQuanYi Micro Hei"/>
                <a:cs typeface="WenQuanYi Micro Hei"/>
              </a:rPr>
              <a:t>•  改善空间/社会记忆、神经元集群与尖波涟漪，并抑制癫痫。</a:t>
            </a:r>
          </a:p>
          <a:p>
            <a:pPr algn="l">
              <a:spcAft>
                <a:spcPts val="600"/>
              </a:spcAft>
            </a:pPr>
            <a:r>
              <a:rPr sz="1300" b="0">
                <a:solidFill>
                  <a:srgbClr val="1F2937"/>
                </a:solidFill>
                <a:latin typeface="WenQuanYi Micro Hei"/>
                <a:ea typeface="WenQuanYi Micro Hei"/>
                <a:cs typeface="WenQuanYi Micro Hei"/>
              </a:rPr>
              <a:t>•  说明部分发育缺陷在成年仍可逆；关键是对准正确细胞类型的可塑性程序，而不只是“补一个全局信号”。</a:t>
            </a:r>
          </a:p>
        </p:txBody>
      </p:sp>
      <p:sp>
        <p:nvSpPr>
          <p:cNvPr id="17" name="TextBox 16"/>
          <p:cNvSpPr txBox="1"/>
          <p:nvPr/>
        </p:nvSpPr>
        <p:spPr>
          <a:xfrm>
            <a:off x="292608" y="5650992"/>
            <a:ext cx="5623560" cy="841248"/>
          </a:xfrm>
          <a:prstGeom prst="rect">
            <a:avLst/>
          </a:prstGeom>
          <a:noFill/>
        </p:spPr>
        <p:txBody>
          <a:bodyPr wrap="square"/>
          <a:lstStyle/>
          <a:p>
            <a:pPr algn="l">
              <a:spcBef>
                <a:spcPts val="0"/>
              </a:spcBef>
              <a:spcAft>
                <a:spcPts val="0"/>
              </a:spcAft>
            </a:pPr>
            <a:r>
              <a:rPr sz="1000" b="0">
                <a:solidFill>
                  <a:srgbClr val="4B5563"/>
                </a:solidFill>
                <a:latin typeface="WenQuanYi Micro Hei"/>
                <a:ea typeface="WenQuanYi Micro Hei"/>
                <a:cs typeface="WenQuanYi Micro Hei"/>
              </a:rPr>
              <a:t>Yu-Tzu Shih, Amar Sahay 等  ·  MGH / Harvard
Nature 658, 725 附近 (2026)  ·  DOI: 10.1038/s41586-026-10907-8</a:t>
            </a:r>
          </a:p>
        </p:txBody>
      </p:sp>
      <p:sp>
        <p:nvSpPr>
          <p:cNvPr id="18" name="Rounded Rectangle 17"/>
          <p:cNvSpPr/>
          <p:nvPr/>
        </p:nvSpPr>
        <p:spPr>
          <a:xfrm>
            <a:off x="6053328" y="1115568"/>
            <a:ext cx="5833872" cy="5349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9632" y="1170432"/>
            <a:ext cx="5559552" cy="256032"/>
          </a:xfrm>
          <a:prstGeom prst="rect">
            <a:avLst/>
          </a:prstGeom>
          <a:noFill/>
        </p:spPr>
        <p:txBody>
          <a:bodyPr wrap="square"/>
          <a:lstStyle/>
          <a:p>
            <a:pPr algn="l">
              <a:spcBef>
                <a:spcPts val="0"/>
              </a:spcBef>
              <a:spcAft>
                <a:spcPts val="0"/>
              </a:spcAft>
            </a:pPr>
            <a:r>
              <a:rPr sz="1100" b="1">
                <a:solidFill>
                  <a:srgbClr val="4B5563"/>
                </a:solidFill>
                <a:latin typeface="WenQuanYi Micro Hei"/>
                <a:ea typeface="WenQuanYi Micro Hei"/>
                <a:cs typeface="WenQuanYi Micro Hei"/>
              </a:rPr>
              <a:t>主图  Figure 1（来源：Nature）</a:t>
            </a:r>
          </a:p>
        </p:txBody>
      </p:sp>
      <p:pic>
        <p:nvPicPr>
          <p:cNvPr id="20" name="Picture 19" descr="pv_fig1.png"/>
          <p:cNvPicPr>
            <a:picLocks noChangeAspect="1"/>
          </p:cNvPicPr>
          <p:nvPr/>
        </p:nvPicPr>
        <p:blipFill>
          <a:blip r:embed="rId2"/>
          <a:stretch>
            <a:fillRect/>
          </a:stretch>
        </p:blipFill>
        <p:spPr>
          <a:xfrm>
            <a:off x="6904264" y="1426464"/>
            <a:ext cx="4132000" cy="4928616"/>
          </a:xfrm>
          <a:prstGeom prst="rect">
            <a:avLst/>
          </a:prstGeom>
        </p:spPr>
      </p:pic>
      <p:sp>
        <p:nvSpPr>
          <p:cNvPr id="21" name="Rectangle 20"/>
          <p:cNvSpPr/>
          <p:nvPr/>
        </p:nvSpPr>
        <p:spPr>
          <a:xfrm>
            <a:off x="0" y="6601968"/>
            <a:ext cx="12191695" cy="25603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601968"/>
            <a:ext cx="8229600" cy="256032"/>
          </a:xfrm>
          <a:prstGeom prst="rect">
            <a:avLst/>
          </a:prstGeom>
          <a:noFill/>
        </p:spPr>
        <p:txBody>
          <a:bodyPr wrap="square"/>
          <a:lstStyle/>
          <a:p>
            <a:pPr algn="l">
              <a:spcBef>
                <a:spcPts val="0"/>
              </a:spcBef>
              <a:spcAft>
                <a:spcPts val="0"/>
              </a:spcAft>
            </a:pPr>
            <a:r>
              <a:rPr sz="1000" b="0">
                <a:solidFill>
                  <a:srgbClr val="FFFFFF"/>
                </a:solidFill>
                <a:latin typeface="WenQuanYi Micro Hei"/>
                <a:ea typeface="WenQuanYi Micro Hei"/>
                <a:cs typeface="WenQuanYi Micro Hei"/>
              </a:rPr>
              <a:t>CNS 三大主刊 2026.10.15 ｜生物医学文献汇报（一文一页）</a:t>
            </a:r>
          </a:p>
        </p:txBody>
      </p:sp>
      <p:sp>
        <p:nvSpPr>
          <p:cNvPr id="23" name="TextBox 22"/>
          <p:cNvSpPr txBox="1"/>
          <p:nvPr/>
        </p:nvSpPr>
        <p:spPr>
          <a:xfrm>
            <a:off x="9692640" y="6601968"/>
            <a:ext cx="2194560" cy="256032"/>
          </a:xfrm>
          <a:prstGeom prst="rect">
            <a:avLst/>
          </a:prstGeom>
          <a:noFill/>
        </p:spPr>
        <p:txBody>
          <a:bodyPr wrap="square"/>
          <a:lstStyle/>
          <a:p>
            <a:pPr algn="r">
              <a:spcBef>
                <a:spcPts val="0"/>
              </a:spcBef>
              <a:spcAft>
                <a:spcPts val="0"/>
              </a:spcAft>
            </a:pPr>
            <a:r>
              <a:rPr sz="1000" b="0">
                <a:solidFill>
                  <a:srgbClr val="FFFFFF"/>
                </a:solidFill>
                <a:latin typeface="WenQuanYi Micro Hei"/>
                <a:ea typeface="WenQuanYi Micro Hei"/>
                <a:cs typeface="WenQuanYi Micro Hei"/>
              </a:rPr>
              <a:t>6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92608" y="201168"/>
            <a:ext cx="1234440" cy="310896"/>
          </a:xfrm>
          <a:prstGeom prst="roundRect">
            <a:avLst>
              <a:gd name="adj" fmla="val 12000"/>
            </a:avLst>
          </a:prstGeom>
          <a:solidFill>
            <a:srgbClr val="C41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201168"/>
            <a:ext cx="1234440" cy="310896"/>
          </a:xfrm>
          <a:prstGeom prst="rect">
            <a:avLst/>
          </a:prstGeom>
          <a:noFill/>
        </p:spPr>
        <p:txBody>
          <a:bodyPr wrap="square"/>
          <a:lstStyle/>
          <a:p>
            <a:pPr algn="ctr">
              <a:spcBef>
                <a:spcPts val="0"/>
              </a:spcBef>
              <a:spcAft>
                <a:spcPts val="0"/>
              </a:spcAft>
            </a:pPr>
            <a:r>
              <a:rPr sz="1200" b="1">
                <a:solidFill>
                  <a:srgbClr val="FFFFFF"/>
                </a:solidFill>
                <a:latin typeface="WenQuanYi Micro Hei"/>
                <a:ea typeface="WenQuanYi Micro Hei"/>
                <a:cs typeface="WenQuanYi Micro Hei"/>
              </a:rPr>
              <a:t>Nature</a:t>
            </a:r>
          </a:p>
        </p:txBody>
      </p:sp>
      <p:sp>
        <p:nvSpPr>
          <p:cNvPr id="6" name="TextBox 5"/>
          <p:cNvSpPr txBox="1"/>
          <p:nvPr/>
        </p:nvSpPr>
        <p:spPr>
          <a:xfrm>
            <a:off x="1645920" y="128016"/>
            <a:ext cx="10241280" cy="384048"/>
          </a:xfrm>
          <a:prstGeom prst="rect">
            <a:avLst/>
          </a:prstGeom>
          <a:noFill/>
        </p:spPr>
        <p:txBody>
          <a:bodyPr wrap="square"/>
          <a:lstStyle/>
          <a:p>
            <a:pPr algn="l">
              <a:spcBef>
                <a:spcPts val="0"/>
              </a:spcBef>
              <a:spcAft>
                <a:spcPts val="0"/>
              </a:spcAft>
            </a:pPr>
            <a:r>
              <a:rPr sz="1800" b="1">
                <a:solidFill>
                  <a:srgbClr val="FFFFFF"/>
                </a:solidFill>
                <a:latin typeface="WenQuanYi Micro Hei"/>
                <a:ea typeface="WenQuanYi Micro Hei"/>
                <a:cs typeface="WenQuanYi Micro Hei"/>
              </a:rPr>
              <a:t>皮层类器官里放射状胶质细胞“会报时、不会报分”：谱系时序与体内脱钩</a:t>
            </a:r>
          </a:p>
        </p:txBody>
      </p:sp>
      <p:sp>
        <p:nvSpPr>
          <p:cNvPr id="7" name="TextBox 6"/>
          <p:cNvSpPr txBox="1"/>
          <p:nvPr/>
        </p:nvSpPr>
        <p:spPr>
          <a:xfrm>
            <a:off x="1645920" y="512064"/>
            <a:ext cx="10241280" cy="384048"/>
          </a:xfrm>
          <a:prstGeom prst="rect">
            <a:avLst/>
          </a:prstGeom>
          <a:noFill/>
        </p:spPr>
        <p:txBody>
          <a:bodyPr wrap="square"/>
          <a:lstStyle/>
          <a:p>
            <a:pPr algn="l">
              <a:spcBef>
                <a:spcPts val="0"/>
              </a:spcBef>
              <a:spcAft>
                <a:spcPts val="0"/>
              </a:spcAft>
            </a:pPr>
            <a:r>
              <a:rPr sz="1100" b="0">
                <a:solidFill>
                  <a:srgbClr val="D0DCE8"/>
                </a:solidFill>
                <a:latin typeface="WenQuanYi Micro Hei"/>
                <a:ea typeface="WenQuanYi Micro Hei"/>
                <a:cs typeface="WenQuanYi Micro Hei"/>
              </a:rPr>
              <a:t>Temporal uncoupling of radial glia lineage progression in cortical organoids  ·  Stouffer / Hippenmeyer</a:t>
            </a:r>
          </a:p>
        </p:txBody>
      </p:sp>
      <p:sp>
        <p:nvSpPr>
          <p:cNvPr id="8" name="Rounded Rectangle 7"/>
          <p:cNvSpPr/>
          <p:nvPr/>
        </p:nvSpPr>
        <p:spPr>
          <a:xfrm>
            <a:off x="292608" y="1115568"/>
            <a:ext cx="5623560" cy="10789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188720"/>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解决什么问题</a:t>
            </a:r>
          </a:p>
        </p:txBody>
      </p:sp>
      <p:sp>
        <p:nvSpPr>
          <p:cNvPr id="10" name="TextBox 9"/>
          <p:cNvSpPr txBox="1"/>
          <p:nvPr/>
        </p:nvSpPr>
        <p:spPr>
          <a:xfrm>
            <a:off x="438912" y="1444752"/>
            <a:ext cx="5367528" cy="676656"/>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自组织皮层类器官常被当作人脑发育模型，但放射状胶质祖细胞（RGP）是否仍按体内那套严格时序推进谱系，缺乏单克隆定量证据。</a:t>
            </a:r>
          </a:p>
        </p:txBody>
      </p:sp>
      <p:sp>
        <p:nvSpPr>
          <p:cNvPr id="11" name="Rounded Rectangle 10"/>
          <p:cNvSpPr/>
          <p:nvPr/>
        </p:nvSpPr>
        <p:spPr>
          <a:xfrm>
            <a:off x="292608" y="2304288"/>
            <a:ext cx="5623560" cy="14173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2359152"/>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做了什么</a:t>
            </a:r>
          </a:p>
        </p:txBody>
      </p:sp>
      <p:sp>
        <p:nvSpPr>
          <p:cNvPr id="13" name="TextBox 12"/>
          <p:cNvSpPr txBox="1"/>
          <p:nvPr/>
        </p:nvSpPr>
        <p:spPr>
          <a:xfrm>
            <a:off x="438912" y="2615184"/>
            <a:ext cx="5367528" cy="102412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把 MADM 谱系示踪做到小鼠 ESC 来源皮层类器官，与体内 RGP 定量框架直接对比：增殖潜能、克隆神经元多样性、SCPN vs CPN 命运。</a:t>
            </a:r>
          </a:p>
        </p:txBody>
      </p:sp>
      <p:sp>
        <p:nvSpPr>
          <p:cNvPr id="14" name="Rounded Rectangle 13"/>
          <p:cNvSpPr/>
          <p:nvPr/>
        </p:nvSpPr>
        <p:spPr>
          <a:xfrm>
            <a:off x="292608" y="3822191"/>
            <a:ext cx="5623560" cy="178308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 y="3877056"/>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关键结论</a:t>
            </a:r>
          </a:p>
        </p:txBody>
      </p:sp>
      <p:sp>
        <p:nvSpPr>
          <p:cNvPr id="16" name="TextBox 15"/>
          <p:cNvSpPr txBox="1"/>
          <p:nvPr/>
        </p:nvSpPr>
        <p:spPr>
          <a:xfrm>
            <a:off x="402336" y="4133087"/>
            <a:ext cx="5404104" cy="1389888"/>
          </a:xfrm>
          <a:prstGeom prst="rect">
            <a:avLst/>
          </a:prstGeom>
          <a:noFill/>
        </p:spPr>
        <p:txBody>
          <a:bodyPr wrap="square">
            <a:spAutoFit/>
          </a:bodyPr>
          <a:lstStyle/>
          <a:p>
            <a:pPr algn="l">
              <a:spcAft>
                <a:spcPts val="600"/>
              </a:spcAft>
            </a:pPr>
            <a:r>
              <a:rPr sz="1300" b="0">
                <a:solidFill>
                  <a:srgbClr val="1F2937"/>
                </a:solidFill>
                <a:latin typeface="WenQuanYi Micro Hei"/>
                <a:ea typeface="WenQuanYi Micro Hei"/>
                <a:cs typeface="WenQuanYi Micro Hei"/>
              </a:rPr>
              <a:t>•  类器官 RGP 增殖潜能高度可塑，不再是体内那种刻板的时序谱系推进。</a:t>
            </a:r>
          </a:p>
          <a:p>
            <a:pPr algn="l">
              <a:spcAft>
                <a:spcPts val="600"/>
              </a:spcAft>
            </a:pPr>
            <a:r>
              <a:rPr sz="1300" b="0">
                <a:solidFill>
                  <a:srgbClr val="1F2937"/>
                </a:solidFill>
                <a:latin typeface="WenQuanYi Micro Hei"/>
                <a:ea typeface="WenQuanYi Micro Hei"/>
                <a:cs typeface="WenQuanYi Micro Hei"/>
              </a:rPr>
              <a:t>•  约 1/3 克隆出现命运限制（体内仅约 3%），克隆内皮层投射神经元多样性下降。</a:t>
            </a:r>
          </a:p>
          <a:p>
            <a:pPr algn="l">
              <a:spcAft>
                <a:spcPts val="600"/>
              </a:spcAft>
            </a:pPr>
            <a:r>
              <a:rPr sz="1300" b="0">
                <a:solidFill>
                  <a:srgbClr val="1F2937"/>
                </a:solidFill>
                <a:latin typeface="WenQuanYi Micro Hei"/>
                <a:ea typeface="WenQuanYi Micro Hei"/>
                <a:cs typeface="WenQuanYi Micro Hei"/>
              </a:rPr>
              <a:t>•  单细胞转录轨迹仍均一，说明缺的是非细胞自主龛位信号。筛药/建模时要分清“药物无效”还是“模型缺时序”。</a:t>
            </a:r>
          </a:p>
        </p:txBody>
      </p:sp>
      <p:sp>
        <p:nvSpPr>
          <p:cNvPr id="17" name="TextBox 16"/>
          <p:cNvSpPr txBox="1"/>
          <p:nvPr/>
        </p:nvSpPr>
        <p:spPr>
          <a:xfrm>
            <a:off x="292608" y="5650992"/>
            <a:ext cx="5623560" cy="841248"/>
          </a:xfrm>
          <a:prstGeom prst="rect">
            <a:avLst/>
          </a:prstGeom>
          <a:noFill/>
        </p:spPr>
        <p:txBody>
          <a:bodyPr wrap="square"/>
          <a:lstStyle/>
          <a:p>
            <a:pPr algn="l">
              <a:spcBef>
                <a:spcPts val="0"/>
              </a:spcBef>
              <a:spcAft>
                <a:spcPts val="0"/>
              </a:spcAft>
            </a:pPr>
            <a:r>
              <a:rPr sz="1000" b="0">
                <a:solidFill>
                  <a:srgbClr val="4B5563"/>
                </a:solidFill>
                <a:latin typeface="WenQuanYi Micro Hei"/>
                <a:ea typeface="WenQuanYi Micro Hei"/>
                <a:cs typeface="WenQuanYi Micro Hei"/>
              </a:rPr>
              <a:t>Melissa Stouffer, Simon Hippenmeyer 等  ·  ISTA
Nature 658, 716–724 (2026)  ·  DOI: 10.1038/s41586-026-10916-7</a:t>
            </a:r>
          </a:p>
        </p:txBody>
      </p:sp>
      <p:sp>
        <p:nvSpPr>
          <p:cNvPr id="18" name="Rounded Rectangle 17"/>
          <p:cNvSpPr/>
          <p:nvPr/>
        </p:nvSpPr>
        <p:spPr>
          <a:xfrm>
            <a:off x="6053328" y="1115568"/>
            <a:ext cx="5833872" cy="5349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9632" y="1170432"/>
            <a:ext cx="5559552" cy="256032"/>
          </a:xfrm>
          <a:prstGeom prst="rect">
            <a:avLst/>
          </a:prstGeom>
          <a:noFill/>
        </p:spPr>
        <p:txBody>
          <a:bodyPr wrap="square"/>
          <a:lstStyle/>
          <a:p>
            <a:pPr algn="l">
              <a:spcBef>
                <a:spcPts val="0"/>
              </a:spcBef>
              <a:spcAft>
                <a:spcPts val="0"/>
              </a:spcAft>
            </a:pPr>
            <a:r>
              <a:rPr sz="1100" b="1">
                <a:solidFill>
                  <a:srgbClr val="4B5563"/>
                </a:solidFill>
                <a:latin typeface="WenQuanYi Micro Hei"/>
                <a:ea typeface="WenQuanYi Micro Hei"/>
                <a:cs typeface="WenQuanYi Micro Hei"/>
              </a:rPr>
              <a:t>主图  Figure 1（来源：Nature）</a:t>
            </a:r>
          </a:p>
        </p:txBody>
      </p:sp>
      <p:pic>
        <p:nvPicPr>
          <p:cNvPr id="20" name="Picture 19" descr="rgp_fig1.png"/>
          <p:cNvPicPr>
            <a:picLocks noChangeAspect="1"/>
          </p:cNvPicPr>
          <p:nvPr/>
        </p:nvPicPr>
        <p:blipFill>
          <a:blip r:embed="rId2"/>
          <a:stretch>
            <a:fillRect/>
          </a:stretch>
        </p:blipFill>
        <p:spPr>
          <a:xfrm>
            <a:off x="6870686" y="1426464"/>
            <a:ext cx="4199155" cy="4928616"/>
          </a:xfrm>
          <a:prstGeom prst="rect">
            <a:avLst/>
          </a:prstGeom>
        </p:spPr>
      </p:pic>
      <p:sp>
        <p:nvSpPr>
          <p:cNvPr id="21" name="Rectangle 20"/>
          <p:cNvSpPr/>
          <p:nvPr/>
        </p:nvSpPr>
        <p:spPr>
          <a:xfrm>
            <a:off x="0" y="6601968"/>
            <a:ext cx="12191695" cy="25603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601968"/>
            <a:ext cx="8229600" cy="256032"/>
          </a:xfrm>
          <a:prstGeom prst="rect">
            <a:avLst/>
          </a:prstGeom>
          <a:noFill/>
        </p:spPr>
        <p:txBody>
          <a:bodyPr wrap="square"/>
          <a:lstStyle/>
          <a:p>
            <a:pPr algn="l">
              <a:spcBef>
                <a:spcPts val="0"/>
              </a:spcBef>
              <a:spcAft>
                <a:spcPts val="0"/>
              </a:spcAft>
            </a:pPr>
            <a:r>
              <a:rPr sz="1000" b="0">
                <a:solidFill>
                  <a:srgbClr val="FFFFFF"/>
                </a:solidFill>
                <a:latin typeface="WenQuanYi Micro Hei"/>
                <a:ea typeface="WenQuanYi Micro Hei"/>
                <a:cs typeface="WenQuanYi Micro Hei"/>
              </a:rPr>
              <a:t>CNS 三大主刊 2026.10.15 ｜生物医学文献汇报（一文一页）</a:t>
            </a:r>
          </a:p>
        </p:txBody>
      </p:sp>
      <p:sp>
        <p:nvSpPr>
          <p:cNvPr id="23" name="TextBox 22"/>
          <p:cNvSpPr txBox="1"/>
          <p:nvPr/>
        </p:nvSpPr>
        <p:spPr>
          <a:xfrm>
            <a:off x="9692640" y="6601968"/>
            <a:ext cx="2194560" cy="256032"/>
          </a:xfrm>
          <a:prstGeom prst="rect">
            <a:avLst/>
          </a:prstGeom>
          <a:noFill/>
        </p:spPr>
        <p:txBody>
          <a:bodyPr wrap="square"/>
          <a:lstStyle/>
          <a:p>
            <a:pPr algn="r">
              <a:spcBef>
                <a:spcPts val="0"/>
              </a:spcBef>
              <a:spcAft>
                <a:spcPts val="0"/>
              </a:spcAft>
            </a:pPr>
            <a:r>
              <a:rPr sz="1000" b="0">
                <a:solidFill>
                  <a:srgbClr val="FFFFFF"/>
                </a:solidFill>
                <a:latin typeface="WenQuanYi Micro Hei"/>
                <a:ea typeface="WenQuanYi Micro Hei"/>
                <a:cs typeface="WenQuanYi Micro Hei"/>
              </a:rPr>
              <a:t>7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92608" y="201168"/>
            <a:ext cx="1234440" cy="310896"/>
          </a:xfrm>
          <a:prstGeom prst="roundRect">
            <a:avLst>
              <a:gd name="adj" fmla="val 12000"/>
            </a:avLst>
          </a:prstGeom>
          <a:solidFill>
            <a:srgbClr val="008B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201168"/>
            <a:ext cx="1234440" cy="310896"/>
          </a:xfrm>
          <a:prstGeom prst="rect">
            <a:avLst/>
          </a:prstGeom>
          <a:noFill/>
        </p:spPr>
        <p:txBody>
          <a:bodyPr wrap="square"/>
          <a:lstStyle/>
          <a:p>
            <a:pPr algn="ctr">
              <a:spcBef>
                <a:spcPts val="0"/>
              </a:spcBef>
              <a:spcAft>
                <a:spcPts val="0"/>
              </a:spcAft>
            </a:pPr>
            <a:r>
              <a:rPr sz="1200" b="1">
                <a:solidFill>
                  <a:srgbClr val="FFFFFF"/>
                </a:solidFill>
                <a:latin typeface="WenQuanYi Micro Hei"/>
                <a:ea typeface="WenQuanYi Micro Hei"/>
                <a:cs typeface="WenQuanYi Micro Hei"/>
              </a:rPr>
              <a:t>Cell</a:t>
            </a:r>
          </a:p>
        </p:txBody>
      </p:sp>
      <p:sp>
        <p:nvSpPr>
          <p:cNvPr id="6" name="TextBox 5"/>
          <p:cNvSpPr txBox="1"/>
          <p:nvPr/>
        </p:nvSpPr>
        <p:spPr>
          <a:xfrm>
            <a:off x="1645920" y="128016"/>
            <a:ext cx="10241280" cy="384048"/>
          </a:xfrm>
          <a:prstGeom prst="rect">
            <a:avLst/>
          </a:prstGeom>
          <a:noFill/>
        </p:spPr>
        <p:txBody>
          <a:bodyPr wrap="square"/>
          <a:lstStyle/>
          <a:p>
            <a:pPr algn="l">
              <a:spcBef>
                <a:spcPts val="0"/>
              </a:spcBef>
              <a:spcAft>
                <a:spcPts val="0"/>
              </a:spcAft>
            </a:pPr>
            <a:r>
              <a:rPr sz="1800" b="1">
                <a:solidFill>
                  <a:srgbClr val="FFFFFF"/>
                </a:solidFill>
                <a:latin typeface="WenQuanYi Micro Hei"/>
                <a:ea typeface="WenQuanYi Micro Hei"/>
                <a:cs typeface="WenQuanYi Micro Hei"/>
              </a:rPr>
              <a:t>早期人皮层代谢图谱：糖酵解/磷酸戊糖途径开关决定放射状胶质命运</a:t>
            </a:r>
          </a:p>
        </p:txBody>
      </p:sp>
      <p:sp>
        <p:nvSpPr>
          <p:cNvPr id="7" name="TextBox 6"/>
          <p:cNvSpPr txBox="1"/>
          <p:nvPr/>
        </p:nvSpPr>
        <p:spPr>
          <a:xfrm>
            <a:off x="1645920" y="512064"/>
            <a:ext cx="10241280" cy="384048"/>
          </a:xfrm>
          <a:prstGeom prst="rect">
            <a:avLst/>
          </a:prstGeom>
          <a:noFill/>
        </p:spPr>
        <p:txBody>
          <a:bodyPr wrap="square"/>
          <a:lstStyle/>
          <a:p>
            <a:pPr algn="l">
              <a:spcBef>
                <a:spcPts val="0"/>
              </a:spcBef>
              <a:spcAft>
                <a:spcPts val="0"/>
              </a:spcAft>
            </a:pPr>
            <a:r>
              <a:rPr sz="1100" b="0">
                <a:solidFill>
                  <a:srgbClr val="D0DCE8"/>
                </a:solidFill>
                <a:latin typeface="WenQuanYi Micro Hei"/>
                <a:ea typeface="WenQuanYi Micro Hei"/>
                <a:cs typeface="WenQuanYi Micro Hei"/>
              </a:rPr>
              <a:t>Metabolic atlas of early human cortex … PPP control of cell fate  ·  Mil / Bhaduri</a:t>
            </a:r>
          </a:p>
        </p:txBody>
      </p:sp>
      <p:sp>
        <p:nvSpPr>
          <p:cNvPr id="8" name="Rounded Rectangle 7"/>
          <p:cNvSpPr/>
          <p:nvPr/>
        </p:nvSpPr>
        <p:spPr>
          <a:xfrm>
            <a:off x="292608" y="1115568"/>
            <a:ext cx="5623560" cy="10789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188720"/>
            <a:ext cx="5367528" cy="256032"/>
          </a:xfrm>
          <a:prstGeom prst="rect">
            <a:avLst/>
          </a:prstGeom>
          <a:noFill/>
        </p:spPr>
        <p:txBody>
          <a:bodyPr wrap="square"/>
          <a:lstStyle/>
          <a:p>
            <a:pPr algn="l">
              <a:spcBef>
                <a:spcPts val="0"/>
              </a:spcBef>
              <a:spcAft>
                <a:spcPts val="0"/>
              </a:spcAft>
            </a:pPr>
            <a:r>
              <a:rPr sz="1200" b="1">
                <a:solidFill>
                  <a:srgbClr val="008BC7"/>
                </a:solidFill>
                <a:latin typeface="WenQuanYi Micro Hei"/>
                <a:ea typeface="WenQuanYi Micro Hei"/>
                <a:cs typeface="WenQuanYi Micro Hei"/>
              </a:rPr>
              <a:t>解决什么问题</a:t>
            </a:r>
          </a:p>
        </p:txBody>
      </p:sp>
      <p:sp>
        <p:nvSpPr>
          <p:cNvPr id="10" name="TextBox 9"/>
          <p:cNvSpPr txBox="1"/>
          <p:nvPr/>
        </p:nvSpPr>
        <p:spPr>
          <a:xfrm>
            <a:off x="438912" y="1444752"/>
            <a:ext cx="5367528" cy="676656"/>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人皮层发育需要快速扩增祖细胞并多样化，但人源组织中代谢程序几乎未被系统画过，代谢如何卡细胞命运也不清。</a:t>
            </a:r>
          </a:p>
        </p:txBody>
      </p:sp>
      <p:sp>
        <p:nvSpPr>
          <p:cNvPr id="11" name="Rounded Rectangle 10"/>
          <p:cNvSpPr/>
          <p:nvPr/>
        </p:nvSpPr>
        <p:spPr>
          <a:xfrm>
            <a:off x="292608" y="2304288"/>
            <a:ext cx="5623560" cy="14173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2359152"/>
            <a:ext cx="5367528" cy="256032"/>
          </a:xfrm>
          <a:prstGeom prst="rect">
            <a:avLst/>
          </a:prstGeom>
          <a:noFill/>
        </p:spPr>
        <p:txBody>
          <a:bodyPr wrap="square"/>
          <a:lstStyle/>
          <a:p>
            <a:pPr algn="l">
              <a:spcBef>
                <a:spcPts val="0"/>
              </a:spcBef>
              <a:spcAft>
                <a:spcPts val="0"/>
              </a:spcAft>
            </a:pPr>
            <a:r>
              <a:rPr sz="1200" b="1">
                <a:solidFill>
                  <a:srgbClr val="008BC7"/>
                </a:solidFill>
                <a:latin typeface="WenQuanYi Micro Hei"/>
                <a:ea typeface="WenQuanYi Micro Hei"/>
                <a:cs typeface="WenQuanYi Micro Hei"/>
              </a:rPr>
              <a:t>做了什么</a:t>
            </a:r>
          </a:p>
        </p:txBody>
      </p:sp>
      <p:sp>
        <p:nvSpPr>
          <p:cNvPr id="13" name="TextBox 12"/>
          <p:cNvSpPr txBox="1"/>
          <p:nvPr/>
        </p:nvSpPr>
        <p:spPr>
          <a:xfrm>
            <a:off x="438912" y="2615184"/>
            <a:ext cx="5367528" cy="102412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用原代人皮层 + 皮层类器官做多模态代谢图谱。发现晚期神经发生时糖酵解和磷酸戊糖途径（PPP）意外升高，再用降糖、药理/遗传抑制 PPP、补核糖做干预。</a:t>
            </a:r>
          </a:p>
        </p:txBody>
      </p:sp>
      <p:sp>
        <p:nvSpPr>
          <p:cNvPr id="14" name="Rounded Rectangle 13"/>
          <p:cNvSpPr/>
          <p:nvPr/>
        </p:nvSpPr>
        <p:spPr>
          <a:xfrm>
            <a:off x="292608" y="3822191"/>
            <a:ext cx="5623560" cy="178308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 y="3877056"/>
            <a:ext cx="5367528" cy="256032"/>
          </a:xfrm>
          <a:prstGeom prst="rect">
            <a:avLst/>
          </a:prstGeom>
          <a:noFill/>
        </p:spPr>
        <p:txBody>
          <a:bodyPr wrap="square"/>
          <a:lstStyle/>
          <a:p>
            <a:pPr algn="l">
              <a:spcBef>
                <a:spcPts val="0"/>
              </a:spcBef>
              <a:spcAft>
                <a:spcPts val="0"/>
              </a:spcAft>
            </a:pPr>
            <a:r>
              <a:rPr sz="1200" b="1">
                <a:solidFill>
                  <a:srgbClr val="008BC7"/>
                </a:solidFill>
                <a:latin typeface="WenQuanYi Micro Hei"/>
                <a:ea typeface="WenQuanYi Micro Hei"/>
                <a:cs typeface="WenQuanYi Micro Hei"/>
              </a:rPr>
              <a:t>关键结论</a:t>
            </a:r>
          </a:p>
        </p:txBody>
      </p:sp>
      <p:sp>
        <p:nvSpPr>
          <p:cNvPr id="16" name="TextBox 15"/>
          <p:cNvSpPr txBox="1"/>
          <p:nvPr/>
        </p:nvSpPr>
        <p:spPr>
          <a:xfrm>
            <a:off x="402336" y="4133087"/>
            <a:ext cx="5404104" cy="1389888"/>
          </a:xfrm>
          <a:prstGeom prst="rect">
            <a:avLst/>
          </a:prstGeom>
          <a:noFill/>
        </p:spPr>
        <p:txBody>
          <a:bodyPr wrap="square">
            <a:spAutoFit/>
          </a:bodyPr>
          <a:lstStyle/>
          <a:p>
            <a:pPr algn="l">
              <a:spcAft>
                <a:spcPts val="600"/>
              </a:spcAft>
            </a:pPr>
            <a:r>
              <a:rPr sz="1300" b="0">
                <a:solidFill>
                  <a:srgbClr val="1F2937"/>
                </a:solidFill>
                <a:latin typeface="WenQuanYi Micro Hei"/>
                <a:ea typeface="WenQuanYi Micro Hei"/>
                <a:cs typeface="WenQuanYi Micro Hei"/>
              </a:rPr>
              <a:t>•  降糖或抑制 PPP 酶 → 外侧放射状胶质（oRG）和抑制性神经元增多。</a:t>
            </a:r>
          </a:p>
          <a:p>
            <a:pPr algn="l">
              <a:spcAft>
                <a:spcPts val="600"/>
              </a:spcAft>
            </a:pPr>
            <a:r>
              <a:rPr sz="1300" b="0">
                <a:solidFill>
                  <a:srgbClr val="1F2937"/>
                </a:solidFill>
                <a:latin typeface="WenQuanYi Micro Hei"/>
                <a:ea typeface="WenQuanYi Micro Hei"/>
                <a:cs typeface="WenQuanYi Micro Hei"/>
              </a:rPr>
              <a:t>•  核糖足以挽救 RG 基因表达、类器官细胞组成，并恢复 ATP 与亚牛磺酸。</a:t>
            </a:r>
          </a:p>
          <a:p>
            <a:pPr algn="l">
              <a:spcAft>
                <a:spcPts val="600"/>
              </a:spcAft>
            </a:pPr>
            <a:r>
              <a:rPr sz="1300" b="0">
                <a:solidFill>
                  <a:srgbClr val="1F2937"/>
                </a:solidFill>
                <a:latin typeface="WenQuanYi Micro Hei"/>
                <a:ea typeface="WenQuanYi Micro Hei"/>
                <a:cs typeface="WenQuanYi Micro Hei"/>
              </a:rPr>
              <a:t>•  PPP 是调控 RG 命运的关键节点；为发育代谢与疾病模型提供资源。</a:t>
            </a:r>
          </a:p>
        </p:txBody>
      </p:sp>
      <p:sp>
        <p:nvSpPr>
          <p:cNvPr id="17" name="TextBox 16"/>
          <p:cNvSpPr txBox="1"/>
          <p:nvPr/>
        </p:nvSpPr>
        <p:spPr>
          <a:xfrm>
            <a:off x="292608" y="5650992"/>
            <a:ext cx="5623560" cy="841248"/>
          </a:xfrm>
          <a:prstGeom prst="rect">
            <a:avLst/>
          </a:prstGeom>
          <a:noFill/>
        </p:spPr>
        <p:txBody>
          <a:bodyPr wrap="square"/>
          <a:lstStyle/>
          <a:p>
            <a:pPr algn="l">
              <a:spcBef>
                <a:spcPts val="0"/>
              </a:spcBef>
              <a:spcAft>
                <a:spcPts val="0"/>
              </a:spcAft>
            </a:pPr>
            <a:r>
              <a:rPr sz="1000" b="0">
                <a:solidFill>
                  <a:srgbClr val="4B5563"/>
                </a:solidFill>
                <a:latin typeface="WenQuanYi Micro Hei"/>
                <a:ea typeface="WenQuanYi Micro Hei"/>
                <a:cs typeface="WenQuanYi Micro Hei"/>
              </a:rPr>
              <a:t>Jessenya Mil, Heather Christofk, Aparna Bhaduri 等  ·  UCLA
Cell 189, 6810–6828 (2026)  ·  DOI: 10.1016/j.cell.2026.07.023</a:t>
            </a:r>
          </a:p>
        </p:txBody>
      </p:sp>
      <p:sp>
        <p:nvSpPr>
          <p:cNvPr id="18" name="Rounded Rectangle 17"/>
          <p:cNvSpPr/>
          <p:nvPr/>
        </p:nvSpPr>
        <p:spPr>
          <a:xfrm>
            <a:off x="6053328" y="1115568"/>
            <a:ext cx="5833872" cy="5349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9632" y="1170432"/>
            <a:ext cx="5559552" cy="256032"/>
          </a:xfrm>
          <a:prstGeom prst="rect">
            <a:avLst/>
          </a:prstGeom>
          <a:noFill/>
        </p:spPr>
        <p:txBody>
          <a:bodyPr wrap="square"/>
          <a:lstStyle/>
          <a:p>
            <a:pPr algn="l">
              <a:spcBef>
                <a:spcPts val="0"/>
              </a:spcBef>
              <a:spcAft>
                <a:spcPts val="0"/>
              </a:spcAft>
            </a:pPr>
            <a:r>
              <a:rPr sz="1100" b="1">
                <a:solidFill>
                  <a:srgbClr val="4B5563"/>
                </a:solidFill>
                <a:latin typeface="WenQuanYi Micro Hei"/>
                <a:ea typeface="WenQuanYi Micro Hei"/>
                <a:cs typeface="WenQuanYi Micro Hei"/>
              </a:rPr>
              <a:t>主图  Graphical abstract（来源：Cell）</a:t>
            </a:r>
          </a:p>
        </p:txBody>
      </p:sp>
      <p:pic>
        <p:nvPicPr>
          <p:cNvPr id="20" name="Picture 19" descr="metab_ga.jpg"/>
          <p:cNvPicPr>
            <a:picLocks noChangeAspect="1"/>
          </p:cNvPicPr>
          <p:nvPr/>
        </p:nvPicPr>
        <p:blipFill>
          <a:blip r:embed="rId2"/>
          <a:stretch>
            <a:fillRect/>
          </a:stretch>
        </p:blipFill>
        <p:spPr>
          <a:xfrm>
            <a:off x="6505956" y="1426464"/>
            <a:ext cx="4928616" cy="4928616"/>
          </a:xfrm>
          <a:prstGeom prst="rect">
            <a:avLst/>
          </a:prstGeom>
        </p:spPr>
      </p:pic>
      <p:sp>
        <p:nvSpPr>
          <p:cNvPr id="21" name="Rectangle 20"/>
          <p:cNvSpPr/>
          <p:nvPr/>
        </p:nvSpPr>
        <p:spPr>
          <a:xfrm>
            <a:off x="0" y="6601968"/>
            <a:ext cx="12191695" cy="25603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601968"/>
            <a:ext cx="8229600" cy="256032"/>
          </a:xfrm>
          <a:prstGeom prst="rect">
            <a:avLst/>
          </a:prstGeom>
          <a:noFill/>
        </p:spPr>
        <p:txBody>
          <a:bodyPr wrap="square"/>
          <a:lstStyle/>
          <a:p>
            <a:pPr algn="l">
              <a:spcBef>
                <a:spcPts val="0"/>
              </a:spcBef>
              <a:spcAft>
                <a:spcPts val="0"/>
              </a:spcAft>
            </a:pPr>
            <a:r>
              <a:rPr sz="1000" b="0">
                <a:solidFill>
                  <a:srgbClr val="FFFFFF"/>
                </a:solidFill>
                <a:latin typeface="WenQuanYi Micro Hei"/>
                <a:ea typeface="WenQuanYi Micro Hei"/>
                <a:cs typeface="WenQuanYi Micro Hei"/>
              </a:rPr>
              <a:t>CNS 三大主刊 2026.10.15 ｜生物医学文献汇报（一文一页）</a:t>
            </a:r>
          </a:p>
        </p:txBody>
      </p:sp>
      <p:sp>
        <p:nvSpPr>
          <p:cNvPr id="23" name="TextBox 22"/>
          <p:cNvSpPr txBox="1"/>
          <p:nvPr/>
        </p:nvSpPr>
        <p:spPr>
          <a:xfrm>
            <a:off x="9692640" y="6601968"/>
            <a:ext cx="2194560" cy="256032"/>
          </a:xfrm>
          <a:prstGeom prst="rect">
            <a:avLst/>
          </a:prstGeom>
          <a:noFill/>
        </p:spPr>
        <p:txBody>
          <a:bodyPr wrap="square"/>
          <a:lstStyle/>
          <a:p>
            <a:pPr algn="r">
              <a:spcBef>
                <a:spcPts val="0"/>
              </a:spcBef>
              <a:spcAft>
                <a:spcPts val="0"/>
              </a:spcAft>
            </a:pPr>
            <a:r>
              <a:rPr sz="1000" b="0">
                <a:solidFill>
                  <a:srgbClr val="FFFFFF"/>
                </a:solidFill>
                <a:latin typeface="WenQuanYi Micro Hei"/>
                <a:ea typeface="WenQuanYi Micro Hei"/>
                <a:cs typeface="WenQuanYi Micro Hei"/>
              </a:rPr>
              <a:t>8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92608" y="201168"/>
            <a:ext cx="1234440" cy="310896"/>
          </a:xfrm>
          <a:prstGeom prst="roundRect">
            <a:avLst>
              <a:gd name="adj" fmla="val 12000"/>
            </a:avLst>
          </a:prstGeom>
          <a:solidFill>
            <a:srgbClr val="C41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201168"/>
            <a:ext cx="1234440" cy="310896"/>
          </a:xfrm>
          <a:prstGeom prst="rect">
            <a:avLst/>
          </a:prstGeom>
          <a:noFill/>
        </p:spPr>
        <p:txBody>
          <a:bodyPr wrap="square"/>
          <a:lstStyle/>
          <a:p>
            <a:pPr algn="ctr">
              <a:spcBef>
                <a:spcPts val="0"/>
              </a:spcBef>
              <a:spcAft>
                <a:spcPts val="0"/>
              </a:spcAft>
            </a:pPr>
            <a:r>
              <a:rPr sz="1200" b="1">
                <a:solidFill>
                  <a:srgbClr val="FFFFFF"/>
                </a:solidFill>
                <a:latin typeface="WenQuanYi Micro Hei"/>
                <a:ea typeface="WenQuanYi Micro Hei"/>
                <a:cs typeface="WenQuanYi Micro Hei"/>
              </a:rPr>
              <a:t>Nature</a:t>
            </a:r>
          </a:p>
        </p:txBody>
      </p:sp>
      <p:sp>
        <p:nvSpPr>
          <p:cNvPr id="6" name="TextBox 5"/>
          <p:cNvSpPr txBox="1"/>
          <p:nvPr/>
        </p:nvSpPr>
        <p:spPr>
          <a:xfrm>
            <a:off x="1645920" y="128016"/>
            <a:ext cx="10241280" cy="384048"/>
          </a:xfrm>
          <a:prstGeom prst="rect">
            <a:avLst/>
          </a:prstGeom>
          <a:noFill/>
        </p:spPr>
        <p:txBody>
          <a:bodyPr wrap="square"/>
          <a:lstStyle/>
          <a:p>
            <a:pPr algn="l">
              <a:spcBef>
                <a:spcPts val="0"/>
              </a:spcBef>
              <a:spcAft>
                <a:spcPts val="0"/>
              </a:spcAft>
            </a:pPr>
            <a:r>
              <a:rPr sz="1800" b="1">
                <a:solidFill>
                  <a:srgbClr val="FFFFFF"/>
                </a:solidFill>
                <a:latin typeface="WenQuanYi Micro Hei"/>
                <a:ea typeface="WenQuanYi Micro Hei"/>
                <a:cs typeface="WenQuanYi Micro Hei"/>
              </a:rPr>
              <a:t>发育中人皮层四种胶质细胞的 3D 表观基因组，定位精分风险与人加速区</a:t>
            </a:r>
          </a:p>
        </p:txBody>
      </p:sp>
      <p:sp>
        <p:nvSpPr>
          <p:cNvPr id="7" name="TextBox 6"/>
          <p:cNvSpPr txBox="1"/>
          <p:nvPr/>
        </p:nvSpPr>
        <p:spPr>
          <a:xfrm>
            <a:off x="1645920" y="512064"/>
            <a:ext cx="10241280" cy="384048"/>
          </a:xfrm>
          <a:prstGeom prst="rect">
            <a:avLst/>
          </a:prstGeom>
          <a:noFill/>
        </p:spPr>
        <p:txBody>
          <a:bodyPr wrap="square"/>
          <a:lstStyle/>
          <a:p>
            <a:pPr algn="l">
              <a:spcBef>
                <a:spcPts val="0"/>
              </a:spcBef>
              <a:spcAft>
                <a:spcPts val="0"/>
              </a:spcAft>
            </a:pPr>
            <a:r>
              <a:rPr sz="1100" b="0">
                <a:solidFill>
                  <a:srgbClr val="D0DCE8"/>
                </a:solidFill>
                <a:latin typeface="WenQuanYi Micro Hei"/>
                <a:ea typeface="WenQuanYi Micro Hei"/>
                <a:cs typeface="WenQuanYi Micro Hei"/>
              </a:rPr>
              <a:t>3D epigenome of glial cell types in developing human cortex  ·  Jones / Shen</a:t>
            </a:r>
          </a:p>
        </p:txBody>
      </p:sp>
      <p:sp>
        <p:nvSpPr>
          <p:cNvPr id="8" name="Rounded Rectangle 7"/>
          <p:cNvSpPr/>
          <p:nvPr/>
        </p:nvSpPr>
        <p:spPr>
          <a:xfrm>
            <a:off x="292608" y="1115568"/>
            <a:ext cx="5623560" cy="10789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188720"/>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解决什么问题</a:t>
            </a:r>
          </a:p>
        </p:txBody>
      </p:sp>
      <p:sp>
        <p:nvSpPr>
          <p:cNvPr id="10" name="TextBox 9"/>
          <p:cNvSpPr txBox="1"/>
          <p:nvPr/>
        </p:nvSpPr>
        <p:spPr>
          <a:xfrm>
            <a:off x="438912" y="1444752"/>
            <a:ext cx="5367528" cy="676656"/>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非编码变异如何通过胶质细胞特异调控影响神经精神疾病和人特有皮层扩张，缺乏中孕期原代胶质的 3D 表观组图谱。</a:t>
            </a:r>
          </a:p>
        </p:txBody>
      </p:sp>
      <p:sp>
        <p:nvSpPr>
          <p:cNvPr id="11" name="Rounded Rectangle 10"/>
          <p:cNvSpPr/>
          <p:nvPr/>
        </p:nvSpPr>
        <p:spPr>
          <a:xfrm>
            <a:off x="292608" y="2304288"/>
            <a:ext cx="5623560" cy="14173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2359152"/>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做了什么</a:t>
            </a:r>
          </a:p>
        </p:txBody>
      </p:sp>
      <p:sp>
        <p:nvSpPr>
          <p:cNvPr id="13" name="TextBox 12"/>
          <p:cNvSpPr txBox="1"/>
          <p:nvPr/>
        </p:nvSpPr>
        <p:spPr>
          <a:xfrm>
            <a:off x="438912" y="2615184"/>
            <a:ext cx="5367528" cy="102412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FACS 分选中孕期人新皮层 vRG、oRG、OPC、小胶质细胞，整合 RNA-seq、ATAC、WGBS、PLAC-seq（H3K4me3），鉴定细胞类型特异 cCRE，并用转基因小鼠胚胎验证。</a:t>
            </a:r>
          </a:p>
        </p:txBody>
      </p:sp>
      <p:sp>
        <p:nvSpPr>
          <p:cNvPr id="14" name="Rounded Rectangle 13"/>
          <p:cNvSpPr/>
          <p:nvPr/>
        </p:nvSpPr>
        <p:spPr>
          <a:xfrm>
            <a:off x="292608" y="3822191"/>
            <a:ext cx="5623560" cy="178308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 y="3877056"/>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关键结论</a:t>
            </a:r>
          </a:p>
        </p:txBody>
      </p:sp>
      <p:sp>
        <p:nvSpPr>
          <p:cNvPr id="16" name="TextBox 15"/>
          <p:cNvSpPr txBox="1"/>
          <p:nvPr/>
        </p:nvSpPr>
        <p:spPr>
          <a:xfrm>
            <a:off x="402336" y="4133087"/>
            <a:ext cx="5404104" cy="1389888"/>
          </a:xfrm>
          <a:prstGeom prst="rect">
            <a:avLst/>
          </a:prstGeom>
          <a:noFill/>
        </p:spPr>
        <p:txBody>
          <a:bodyPr wrap="square">
            <a:spAutoFit/>
          </a:bodyPr>
          <a:lstStyle/>
          <a:p>
            <a:pPr algn="l">
              <a:spcAft>
                <a:spcPts val="600"/>
              </a:spcAft>
            </a:pPr>
            <a:r>
              <a:rPr sz="1300" b="0">
                <a:solidFill>
                  <a:srgbClr val="1F2937"/>
                </a:solidFill>
                <a:latin typeface="WenQuanYi Micro Hei"/>
                <a:ea typeface="WenQuanYi Micro Hei"/>
                <a:cs typeface="WenQuanYi Micro Hei"/>
              </a:rPr>
              <a:t>•  机器学习优先排序 112 个落在胶质 cCRE 的精分风险变异；rs4449074 可在体内破坏预测的 vRG 增强子。</a:t>
            </a:r>
          </a:p>
          <a:p>
            <a:pPr algn="l">
              <a:spcAft>
                <a:spcPts val="600"/>
              </a:spcAft>
            </a:pPr>
            <a:r>
              <a:rPr sz="1300" b="0">
                <a:solidFill>
                  <a:srgbClr val="1F2937"/>
                </a:solidFill>
                <a:latin typeface="WenQuanYi Micro Hei"/>
                <a:ea typeface="WenQuanYi Micro Hei"/>
                <a:cs typeface="WenQuanYi Micro Hei"/>
              </a:rPr>
              <a:t>•  oRG 的 cCRE 富集人加速区（HAR），部分 HAR 与黑猩猩直向同源序列活性不同，并与神经发育基因互作。</a:t>
            </a:r>
          </a:p>
          <a:p>
            <a:pPr algn="l">
              <a:spcAft>
                <a:spcPts val="600"/>
              </a:spcAft>
            </a:pPr>
            <a:r>
              <a:rPr sz="1300" b="0">
                <a:solidFill>
                  <a:srgbClr val="1F2937"/>
                </a:solidFill>
                <a:latin typeface="WenQuanYi Micro Hei"/>
                <a:ea typeface="WenQuanYi Micro Hei"/>
                <a:cs typeface="WenQuanYi Micro Hei"/>
              </a:rPr>
              <a:t>•  为胶质来源的疾病与人特异皮层进化提供调控地图。</a:t>
            </a:r>
          </a:p>
        </p:txBody>
      </p:sp>
      <p:sp>
        <p:nvSpPr>
          <p:cNvPr id="17" name="TextBox 16"/>
          <p:cNvSpPr txBox="1"/>
          <p:nvPr/>
        </p:nvSpPr>
        <p:spPr>
          <a:xfrm>
            <a:off x="292608" y="5650992"/>
            <a:ext cx="5623560" cy="841248"/>
          </a:xfrm>
          <a:prstGeom prst="rect">
            <a:avLst/>
          </a:prstGeom>
          <a:noFill/>
        </p:spPr>
        <p:txBody>
          <a:bodyPr wrap="square"/>
          <a:lstStyle/>
          <a:p>
            <a:pPr algn="l">
              <a:spcBef>
                <a:spcPts val="0"/>
              </a:spcBef>
              <a:spcAft>
                <a:spcPts val="0"/>
              </a:spcAft>
            </a:pPr>
            <a:r>
              <a:rPr sz="1000" b="0">
                <a:solidFill>
                  <a:srgbClr val="4B5563"/>
                </a:solidFill>
                <a:latin typeface="WenQuanYi Micro Hei"/>
                <a:ea typeface="WenQuanYi Micro Hei"/>
                <a:cs typeface="WenQuanYi Micro Hei"/>
              </a:rPr>
              <a:t>Ian R. Jones, Li Wang, Yin Shen, Arnold Kriegstein 等  ·  UCSF
Nature 658, 795–804 (2026)  ·  DOI: 10.1038/s41586-026-10987-6</a:t>
            </a:r>
          </a:p>
        </p:txBody>
      </p:sp>
      <p:sp>
        <p:nvSpPr>
          <p:cNvPr id="18" name="Rounded Rectangle 17"/>
          <p:cNvSpPr/>
          <p:nvPr/>
        </p:nvSpPr>
        <p:spPr>
          <a:xfrm>
            <a:off x="6053328" y="1115568"/>
            <a:ext cx="5833872" cy="5349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9632" y="1170432"/>
            <a:ext cx="5559552" cy="256032"/>
          </a:xfrm>
          <a:prstGeom prst="rect">
            <a:avLst/>
          </a:prstGeom>
          <a:noFill/>
        </p:spPr>
        <p:txBody>
          <a:bodyPr wrap="square"/>
          <a:lstStyle/>
          <a:p>
            <a:pPr algn="l">
              <a:spcBef>
                <a:spcPts val="0"/>
              </a:spcBef>
              <a:spcAft>
                <a:spcPts val="0"/>
              </a:spcAft>
            </a:pPr>
            <a:r>
              <a:rPr sz="1100" b="1">
                <a:solidFill>
                  <a:srgbClr val="4B5563"/>
                </a:solidFill>
                <a:latin typeface="WenQuanYi Micro Hei"/>
                <a:ea typeface="WenQuanYi Micro Hei"/>
                <a:cs typeface="WenQuanYi Micro Hei"/>
              </a:rPr>
              <a:t>主图  Figure 1（来源：Nature）</a:t>
            </a:r>
          </a:p>
        </p:txBody>
      </p:sp>
      <p:pic>
        <p:nvPicPr>
          <p:cNvPr id="20" name="Picture 19" descr="glia_fig1.png"/>
          <p:cNvPicPr>
            <a:picLocks noChangeAspect="1"/>
          </p:cNvPicPr>
          <p:nvPr/>
        </p:nvPicPr>
        <p:blipFill>
          <a:blip r:embed="rId2"/>
          <a:stretch>
            <a:fillRect/>
          </a:stretch>
        </p:blipFill>
        <p:spPr>
          <a:xfrm>
            <a:off x="6163056" y="2246865"/>
            <a:ext cx="5614416" cy="3287814"/>
          </a:xfrm>
          <a:prstGeom prst="rect">
            <a:avLst/>
          </a:prstGeom>
        </p:spPr>
      </p:pic>
      <p:sp>
        <p:nvSpPr>
          <p:cNvPr id="21" name="Rectangle 20"/>
          <p:cNvSpPr/>
          <p:nvPr/>
        </p:nvSpPr>
        <p:spPr>
          <a:xfrm>
            <a:off x="0" y="6601968"/>
            <a:ext cx="12191695" cy="25603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601968"/>
            <a:ext cx="8229600" cy="256032"/>
          </a:xfrm>
          <a:prstGeom prst="rect">
            <a:avLst/>
          </a:prstGeom>
          <a:noFill/>
        </p:spPr>
        <p:txBody>
          <a:bodyPr wrap="square"/>
          <a:lstStyle/>
          <a:p>
            <a:pPr algn="l">
              <a:spcBef>
                <a:spcPts val="0"/>
              </a:spcBef>
              <a:spcAft>
                <a:spcPts val="0"/>
              </a:spcAft>
            </a:pPr>
            <a:r>
              <a:rPr sz="1000" b="0">
                <a:solidFill>
                  <a:srgbClr val="FFFFFF"/>
                </a:solidFill>
                <a:latin typeface="WenQuanYi Micro Hei"/>
                <a:ea typeface="WenQuanYi Micro Hei"/>
                <a:cs typeface="WenQuanYi Micro Hei"/>
              </a:rPr>
              <a:t>CNS 三大主刊 2026.10.15 ｜生物医学文献汇报（一文一页）</a:t>
            </a:r>
          </a:p>
        </p:txBody>
      </p:sp>
      <p:sp>
        <p:nvSpPr>
          <p:cNvPr id="23" name="TextBox 22"/>
          <p:cNvSpPr txBox="1"/>
          <p:nvPr/>
        </p:nvSpPr>
        <p:spPr>
          <a:xfrm>
            <a:off x="9692640" y="6601968"/>
            <a:ext cx="2194560" cy="256032"/>
          </a:xfrm>
          <a:prstGeom prst="rect">
            <a:avLst/>
          </a:prstGeom>
          <a:noFill/>
        </p:spPr>
        <p:txBody>
          <a:bodyPr wrap="square"/>
          <a:lstStyle/>
          <a:p>
            <a:pPr algn="r">
              <a:spcBef>
                <a:spcPts val="0"/>
              </a:spcBef>
              <a:spcAft>
                <a:spcPts val="0"/>
              </a:spcAft>
            </a:pPr>
            <a:r>
              <a:rPr sz="1000" b="0">
                <a:solidFill>
                  <a:srgbClr val="FFFFFF"/>
                </a:solidFill>
                <a:latin typeface="WenQuanYi Micro Hei"/>
                <a:ea typeface="WenQuanYi Micro Hei"/>
                <a:cs typeface="WenQuanYi Micro Hei"/>
              </a:rPr>
              <a:t>9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92608" y="201168"/>
            <a:ext cx="1234440" cy="310896"/>
          </a:xfrm>
          <a:prstGeom prst="roundRect">
            <a:avLst>
              <a:gd name="adj" fmla="val 12000"/>
            </a:avLst>
          </a:prstGeom>
          <a:solidFill>
            <a:srgbClr val="C41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201168"/>
            <a:ext cx="1234440" cy="310896"/>
          </a:xfrm>
          <a:prstGeom prst="rect">
            <a:avLst/>
          </a:prstGeom>
          <a:noFill/>
        </p:spPr>
        <p:txBody>
          <a:bodyPr wrap="square"/>
          <a:lstStyle/>
          <a:p>
            <a:pPr algn="ctr">
              <a:spcBef>
                <a:spcPts val="0"/>
              </a:spcBef>
              <a:spcAft>
                <a:spcPts val="0"/>
              </a:spcAft>
            </a:pPr>
            <a:r>
              <a:rPr sz="1200" b="1">
                <a:solidFill>
                  <a:srgbClr val="FFFFFF"/>
                </a:solidFill>
                <a:latin typeface="WenQuanYi Micro Hei"/>
                <a:ea typeface="WenQuanYi Micro Hei"/>
                <a:cs typeface="WenQuanYi Micro Hei"/>
              </a:rPr>
              <a:t>Nature</a:t>
            </a:r>
          </a:p>
        </p:txBody>
      </p:sp>
      <p:sp>
        <p:nvSpPr>
          <p:cNvPr id="6" name="TextBox 5"/>
          <p:cNvSpPr txBox="1"/>
          <p:nvPr/>
        </p:nvSpPr>
        <p:spPr>
          <a:xfrm>
            <a:off x="1645920" y="128016"/>
            <a:ext cx="10241280" cy="384048"/>
          </a:xfrm>
          <a:prstGeom prst="rect">
            <a:avLst/>
          </a:prstGeom>
          <a:noFill/>
        </p:spPr>
        <p:txBody>
          <a:bodyPr wrap="square"/>
          <a:lstStyle/>
          <a:p>
            <a:pPr algn="l">
              <a:spcBef>
                <a:spcPts val="0"/>
              </a:spcBef>
              <a:spcAft>
                <a:spcPts val="0"/>
              </a:spcAft>
            </a:pPr>
            <a:r>
              <a:rPr sz="1800" b="1">
                <a:solidFill>
                  <a:srgbClr val="FFFFFF"/>
                </a:solidFill>
                <a:latin typeface="WenQuanYi Micro Hei"/>
                <a:ea typeface="WenQuanYi Micro Hei"/>
                <a:cs typeface="WenQuanYi Micro Hei"/>
              </a:rPr>
              <a:t>补体 H 因子在神经元细胞内抗铁死亡，保护炎症中的中枢神经元</a:t>
            </a:r>
          </a:p>
        </p:txBody>
      </p:sp>
      <p:sp>
        <p:nvSpPr>
          <p:cNvPr id="7" name="TextBox 6"/>
          <p:cNvSpPr txBox="1"/>
          <p:nvPr/>
        </p:nvSpPr>
        <p:spPr>
          <a:xfrm>
            <a:off x="1645920" y="512064"/>
            <a:ext cx="10241280" cy="384048"/>
          </a:xfrm>
          <a:prstGeom prst="rect">
            <a:avLst/>
          </a:prstGeom>
          <a:noFill/>
        </p:spPr>
        <p:txBody>
          <a:bodyPr wrap="square"/>
          <a:lstStyle/>
          <a:p>
            <a:pPr algn="l">
              <a:spcBef>
                <a:spcPts val="0"/>
              </a:spcBef>
              <a:spcAft>
                <a:spcPts val="0"/>
              </a:spcAft>
            </a:pPr>
            <a:r>
              <a:rPr sz="1100" b="0">
                <a:solidFill>
                  <a:srgbClr val="D0DCE8"/>
                </a:solidFill>
                <a:latin typeface="WenQuanYi Micro Hei"/>
                <a:ea typeface="WenQuanYi Micro Hei"/>
                <a:cs typeface="WenQuanYi Micro Hei"/>
              </a:rPr>
              <a:t>Intracellular complement factor H protects neurons during CNS inflammation  ·  Mayer / Friese</a:t>
            </a:r>
          </a:p>
        </p:txBody>
      </p:sp>
      <p:sp>
        <p:nvSpPr>
          <p:cNvPr id="8" name="Rounded Rectangle 7"/>
          <p:cNvSpPr/>
          <p:nvPr/>
        </p:nvSpPr>
        <p:spPr>
          <a:xfrm>
            <a:off x="292608" y="1115568"/>
            <a:ext cx="5623560" cy="10789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188720"/>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解决什么问题</a:t>
            </a:r>
          </a:p>
        </p:txBody>
      </p:sp>
      <p:sp>
        <p:nvSpPr>
          <p:cNvPr id="10" name="TextBox 9"/>
          <p:cNvSpPr txBox="1"/>
          <p:nvPr/>
        </p:nvSpPr>
        <p:spPr>
          <a:xfrm>
            <a:off x="438912" y="1444752"/>
            <a:ext cx="5367528" cy="676656"/>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多发性硬化的残疾主要由神经退变驱动，但神经元亚型为何有的耐炎、有的易损，神经元内在机制不清。CFH 一直被当成胞外补体调节蛋白。</a:t>
            </a:r>
          </a:p>
        </p:txBody>
      </p:sp>
      <p:sp>
        <p:nvSpPr>
          <p:cNvPr id="11" name="Rounded Rectangle 10"/>
          <p:cNvSpPr/>
          <p:nvPr/>
        </p:nvSpPr>
        <p:spPr>
          <a:xfrm>
            <a:off x="292608" y="2304288"/>
            <a:ext cx="5623560" cy="14173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2359152"/>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做了什么</a:t>
            </a:r>
          </a:p>
        </p:txBody>
      </p:sp>
      <p:sp>
        <p:nvSpPr>
          <p:cNvPr id="13" name="TextBox 12"/>
          <p:cNvSpPr txBox="1"/>
          <p:nvPr/>
        </p:nvSpPr>
        <p:spPr>
          <a:xfrm>
            <a:off x="438912" y="2615184"/>
            <a:ext cx="5367528" cy="102412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对 MS 供者视网膜神经节细胞做 snRNA-seq，发现 CFH 与内在耐受力强相关。再在 EAE 小鼠中做神经元特异 Cfh 缺失/过表达，并解析亚细胞定位与结构域。</a:t>
            </a:r>
          </a:p>
        </p:txBody>
      </p:sp>
      <p:sp>
        <p:nvSpPr>
          <p:cNvPr id="14" name="Rounded Rectangle 13"/>
          <p:cNvSpPr/>
          <p:nvPr/>
        </p:nvSpPr>
        <p:spPr>
          <a:xfrm>
            <a:off x="292608" y="3822191"/>
            <a:ext cx="5623560" cy="178308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 y="3877056"/>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关键结论</a:t>
            </a:r>
          </a:p>
        </p:txBody>
      </p:sp>
      <p:sp>
        <p:nvSpPr>
          <p:cNvPr id="16" name="TextBox 15"/>
          <p:cNvSpPr txBox="1"/>
          <p:nvPr/>
        </p:nvSpPr>
        <p:spPr>
          <a:xfrm>
            <a:off x="402336" y="4133087"/>
            <a:ext cx="5404104" cy="1389888"/>
          </a:xfrm>
          <a:prstGeom prst="rect">
            <a:avLst/>
          </a:prstGeom>
          <a:noFill/>
        </p:spPr>
        <p:txBody>
          <a:bodyPr wrap="square">
            <a:spAutoFit/>
          </a:bodyPr>
          <a:lstStyle/>
          <a:p>
            <a:pPr algn="l">
              <a:spcAft>
                <a:spcPts val="600"/>
              </a:spcAft>
            </a:pPr>
            <a:r>
              <a:rPr sz="1300" b="0">
                <a:solidFill>
                  <a:srgbClr val="1F2937"/>
                </a:solidFill>
                <a:latin typeface="WenQuanYi Micro Hei"/>
                <a:ea typeface="WenQuanYi Micro Hei"/>
                <a:cs typeface="WenQuanYi Micro Hei"/>
              </a:rPr>
              <a:t>•  炎症/氧化应激诱导神经元表达 CFH；它定位内质网，限制 ROS 和脂质过氧化（铁死亡相关）。</a:t>
            </a:r>
          </a:p>
          <a:p>
            <a:pPr algn="l">
              <a:spcAft>
                <a:spcPts val="600"/>
              </a:spcAft>
            </a:pPr>
            <a:r>
              <a:rPr sz="1300" b="0">
                <a:solidFill>
                  <a:srgbClr val="1F2937"/>
                </a:solidFill>
                <a:latin typeface="WenQuanYi Micro Hei"/>
                <a:ea typeface="WenQuanYi Micro Hei"/>
                <a:cs typeface="WenQuanYi Micro Hei"/>
              </a:rPr>
              <a:t>•  保护依赖 C 端 SCR20，不依赖分泌，也不依赖 C3。</a:t>
            </a:r>
          </a:p>
          <a:p>
            <a:pPr algn="l">
              <a:spcAft>
                <a:spcPts val="600"/>
              </a:spcAft>
            </a:pPr>
            <a:r>
              <a:rPr sz="1300" b="0">
                <a:solidFill>
                  <a:srgbClr val="1F2937"/>
                </a:solidFill>
                <a:latin typeface="WenQuanYi Micro Hei"/>
                <a:ea typeface="WenQuanYi Micro Hei"/>
                <a:cs typeface="WenQuanYi Micro Hei"/>
              </a:rPr>
              <a:t>•  神经元缺 CFH 使 EAE 更重、视觉更差、神经元丢失更多；胞内 CFH/SCR20 可改善恢复。提出非经典的胞内神经保护功能。</a:t>
            </a:r>
          </a:p>
        </p:txBody>
      </p:sp>
      <p:sp>
        <p:nvSpPr>
          <p:cNvPr id="17" name="TextBox 16"/>
          <p:cNvSpPr txBox="1"/>
          <p:nvPr/>
        </p:nvSpPr>
        <p:spPr>
          <a:xfrm>
            <a:off x="292608" y="5650992"/>
            <a:ext cx="5623560" cy="841248"/>
          </a:xfrm>
          <a:prstGeom prst="rect">
            <a:avLst/>
          </a:prstGeom>
          <a:noFill/>
        </p:spPr>
        <p:txBody>
          <a:bodyPr wrap="square"/>
          <a:lstStyle/>
          <a:p>
            <a:pPr algn="l">
              <a:spcBef>
                <a:spcPts val="0"/>
              </a:spcBef>
              <a:spcAft>
                <a:spcPts val="0"/>
              </a:spcAft>
            </a:pPr>
            <a:r>
              <a:rPr sz="1000" b="0">
                <a:solidFill>
                  <a:srgbClr val="4B5563"/>
                </a:solidFill>
                <a:latin typeface="WenQuanYi Micro Hei"/>
                <a:ea typeface="WenQuanYi Micro Hei"/>
                <a:cs typeface="WenQuanYi Micro Hei"/>
              </a:rPr>
              <a:t>Christina Mayer, Marcel S. Woo, Manuel A. Friese 等  ·  Hamburg INIMS
Nature 658, 765–773 (2026)  ·  DOI: 10.1038/s41586-026-10981-y</a:t>
            </a:r>
          </a:p>
        </p:txBody>
      </p:sp>
      <p:sp>
        <p:nvSpPr>
          <p:cNvPr id="18" name="Rounded Rectangle 17"/>
          <p:cNvSpPr/>
          <p:nvPr/>
        </p:nvSpPr>
        <p:spPr>
          <a:xfrm>
            <a:off x="6053328" y="1115568"/>
            <a:ext cx="5833872" cy="5349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9632" y="1170432"/>
            <a:ext cx="5559552" cy="256032"/>
          </a:xfrm>
          <a:prstGeom prst="rect">
            <a:avLst/>
          </a:prstGeom>
          <a:noFill/>
        </p:spPr>
        <p:txBody>
          <a:bodyPr wrap="square"/>
          <a:lstStyle/>
          <a:p>
            <a:pPr algn="l">
              <a:spcBef>
                <a:spcPts val="0"/>
              </a:spcBef>
              <a:spcAft>
                <a:spcPts val="0"/>
              </a:spcAft>
            </a:pPr>
            <a:r>
              <a:rPr sz="1100" b="1">
                <a:solidFill>
                  <a:srgbClr val="4B5563"/>
                </a:solidFill>
                <a:latin typeface="WenQuanYi Micro Hei"/>
                <a:ea typeface="WenQuanYi Micro Hei"/>
                <a:cs typeface="WenQuanYi Micro Hei"/>
              </a:rPr>
              <a:t>主图  Figure 1（来源：Nature）</a:t>
            </a:r>
          </a:p>
        </p:txBody>
      </p:sp>
      <p:pic>
        <p:nvPicPr>
          <p:cNvPr id="20" name="Picture 19" descr="cfh_fig1.png"/>
          <p:cNvPicPr>
            <a:picLocks noChangeAspect="1"/>
          </p:cNvPicPr>
          <p:nvPr/>
        </p:nvPicPr>
        <p:blipFill>
          <a:blip r:embed="rId2"/>
          <a:stretch>
            <a:fillRect/>
          </a:stretch>
        </p:blipFill>
        <p:spPr>
          <a:xfrm>
            <a:off x="6290808" y="1426464"/>
            <a:ext cx="5358911" cy="4928616"/>
          </a:xfrm>
          <a:prstGeom prst="rect">
            <a:avLst/>
          </a:prstGeom>
        </p:spPr>
      </p:pic>
      <p:sp>
        <p:nvSpPr>
          <p:cNvPr id="21" name="Rectangle 20"/>
          <p:cNvSpPr/>
          <p:nvPr/>
        </p:nvSpPr>
        <p:spPr>
          <a:xfrm>
            <a:off x="0" y="6601968"/>
            <a:ext cx="12191695" cy="25603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601968"/>
            <a:ext cx="8229600" cy="256032"/>
          </a:xfrm>
          <a:prstGeom prst="rect">
            <a:avLst/>
          </a:prstGeom>
          <a:noFill/>
        </p:spPr>
        <p:txBody>
          <a:bodyPr wrap="square"/>
          <a:lstStyle/>
          <a:p>
            <a:pPr algn="l">
              <a:spcBef>
                <a:spcPts val="0"/>
              </a:spcBef>
              <a:spcAft>
                <a:spcPts val="0"/>
              </a:spcAft>
            </a:pPr>
            <a:r>
              <a:rPr sz="1000" b="0">
                <a:solidFill>
                  <a:srgbClr val="FFFFFF"/>
                </a:solidFill>
                <a:latin typeface="WenQuanYi Micro Hei"/>
                <a:ea typeface="WenQuanYi Micro Hei"/>
                <a:cs typeface="WenQuanYi Micro Hei"/>
              </a:rPr>
              <a:t>CNS 三大主刊 2026.10.15 ｜生物医学文献汇报（一文一页）</a:t>
            </a:r>
          </a:p>
        </p:txBody>
      </p:sp>
      <p:sp>
        <p:nvSpPr>
          <p:cNvPr id="23" name="TextBox 22"/>
          <p:cNvSpPr txBox="1"/>
          <p:nvPr/>
        </p:nvSpPr>
        <p:spPr>
          <a:xfrm>
            <a:off x="9692640" y="6601968"/>
            <a:ext cx="2194560" cy="256032"/>
          </a:xfrm>
          <a:prstGeom prst="rect">
            <a:avLst/>
          </a:prstGeom>
          <a:noFill/>
        </p:spPr>
        <p:txBody>
          <a:bodyPr wrap="square"/>
          <a:lstStyle/>
          <a:p>
            <a:pPr algn="r">
              <a:spcBef>
                <a:spcPts val="0"/>
              </a:spcBef>
              <a:spcAft>
                <a:spcPts val="0"/>
              </a:spcAft>
            </a:pPr>
            <a:r>
              <a:rPr sz="1000" b="0">
                <a:solidFill>
                  <a:srgbClr val="FFFFFF"/>
                </a:solidFill>
                <a:latin typeface="WenQuanYi Micro Hei"/>
                <a:ea typeface="WenQuanYi Micro Hei"/>
                <a:cs typeface="WenQuanYi Micro Hei"/>
              </a:rPr>
              <a:t>10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92608" y="201168"/>
            <a:ext cx="1234440" cy="310896"/>
          </a:xfrm>
          <a:prstGeom prst="roundRect">
            <a:avLst>
              <a:gd name="adj" fmla="val 12000"/>
            </a:avLst>
          </a:prstGeom>
          <a:solidFill>
            <a:srgbClr val="C41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201168"/>
            <a:ext cx="1234440" cy="310896"/>
          </a:xfrm>
          <a:prstGeom prst="rect">
            <a:avLst/>
          </a:prstGeom>
          <a:noFill/>
        </p:spPr>
        <p:txBody>
          <a:bodyPr wrap="square"/>
          <a:lstStyle/>
          <a:p>
            <a:pPr algn="ctr">
              <a:spcBef>
                <a:spcPts val="0"/>
              </a:spcBef>
              <a:spcAft>
                <a:spcPts val="0"/>
              </a:spcAft>
            </a:pPr>
            <a:r>
              <a:rPr sz="1200" b="1">
                <a:solidFill>
                  <a:srgbClr val="FFFFFF"/>
                </a:solidFill>
                <a:latin typeface="WenQuanYi Micro Hei"/>
                <a:ea typeface="WenQuanYi Micro Hei"/>
                <a:cs typeface="WenQuanYi Micro Hei"/>
              </a:rPr>
              <a:t>Nature</a:t>
            </a:r>
          </a:p>
        </p:txBody>
      </p:sp>
      <p:sp>
        <p:nvSpPr>
          <p:cNvPr id="6" name="TextBox 5"/>
          <p:cNvSpPr txBox="1"/>
          <p:nvPr/>
        </p:nvSpPr>
        <p:spPr>
          <a:xfrm>
            <a:off x="1645920" y="128016"/>
            <a:ext cx="10241280" cy="384048"/>
          </a:xfrm>
          <a:prstGeom prst="rect">
            <a:avLst/>
          </a:prstGeom>
          <a:noFill/>
        </p:spPr>
        <p:txBody>
          <a:bodyPr wrap="square"/>
          <a:lstStyle/>
          <a:p>
            <a:pPr algn="l">
              <a:spcBef>
                <a:spcPts val="0"/>
              </a:spcBef>
              <a:spcAft>
                <a:spcPts val="0"/>
              </a:spcAft>
            </a:pPr>
            <a:r>
              <a:rPr sz="1800" b="1">
                <a:solidFill>
                  <a:srgbClr val="FFFFFF"/>
                </a:solidFill>
                <a:latin typeface="WenQuanYi Micro Hei"/>
                <a:ea typeface="WenQuanYi Micro Hei"/>
                <a:cs typeface="WenQuanYi Micro Hei"/>
              </a:rPr>
              <a:t>兴奋性神经元异常表达 ERBB4 是阿尔茨海默病早期病理的驱动因素</a:t>
            </a:r>
          </a:p>
        </p:txBody>
      </p:sp>
      <p:sp>
        <p:nvSpPr>
          <p:cNvPr id="7" name="TextBox 6"/>
          <p:cNvSpPr txBox="1"/>
          <p:nvPr/>
        </p:nvSpPr>
        <p:spPr>
          <a:xfrm>
            <a:off x="1645920" y="512064"/>
            <a:ext cx="10241280" cy="384048"/>
          </a:xfrm>
          <a:prstGeom prst="rect">
            <a:avLst/>
          </a:prstGeom>
          <a:noFill/>
        </p:spPr>
        <p:txBody>
          <a:bodyPr wrap="square"/>
          <a:lstStyle/>
          <a:p>
            <a:pPr algn="l">
              <a:spcBef>
                <a:spcPts val="0"/>
              </a:spcBef>
              <a:spcAft>
                <a:spcPts val="0"/>
              </a:spcAft>
            </a:pPr>
            <a:r>
              <a:rPr sz="1100" b="0">
                <a:solidFill>
                  <a:srgbClr val="D0DCE8"/>
                </a:solidFill>
                <a:latin typeface="WenQuanYi Micro Hei"/>
                <a:ea typeface="WenQuanYi Micro Hei"/>
                <a:cs typeface="WenQuanYi Micro Hei"/>
              </a:rPr>
              <a:t>Aberrant excitatory neuronal ERBB4 promotes Alzheimer’s disease pathology  ·  Lee / Chung</a:t>
            </a:r>
          </a:p>
        </p:txBody>
      </p:sp>
      <p:sp>
        <p:nvSpPr>
          <p:cNvPr id="8" name="Rounded Rectangle 7"/>
          <p:cNvSpPr/>
          <p:nvPr/>
        </p:nvSpPr>
        <p:spPr>
          <a:xfrm>
            <a:off x="292608" y="1115568"/>
            <a:ext cx="5623560" cy="10789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188720"/>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解决什么问题</a:t>
            </a:r>
          </a:p>
        </p:txBody>
      </p:sp>
      <p:sp>
        <p:nvSpPr>
          <p:cNvPr id="10" name="TextBox 9"/>
          <p:cNvSpPr txBox="1"/>
          <p:nvPr/>
        </p:nvSpPr>
        <p:spPr>
          <a:xfrm>
            <a:off x="438912" y="1444752"/>
            <a:ext cx="5367528" cy="676656"/>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AD 早期突触丢失常被归为小胶质过度吞噬。但胶质吞噬异常究竟是因还是果？神经炎症是否足以解释早期突触失衡？</a:t>
            </a:r>
          </a:p>
        </p:txBody>
      </p:sp>
      <p:sp>
        <p:nvSpPr>
          <p:cNvPr id="11" name="Rounded Rectangle 10"/>
          <p:cNvSpPr/>
          <p:nvPr/>
        </p:nvSpPr>
        <p:spPr>
          <a:xfrm>
            <a:off x="292608" y="2304288"/>
            <a:ext cx="5623560" cy="14173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2359152"/>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做了什么</a:t>
            </a:r>
          </a:p>
        </p:txBody>
      </p:sp>
      <p:sp>
        <p:nvSpPr>
          <p:cNvPr id="13" name="TextBox 12"/>
          <p:cNvSpPr txBox="1"/>
          <p:nvPr/>
        </p:nvSpPr>
        <p:spPr>
          <a:xfrm>
            <a:off x="438912" y="2615184"/>
            <a:ext cx="5367528" cy="102412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在 AD 小鼠中定量胶质对兴奋/抑制突触的吞噬，并用 snRNA-seq 抓住最早出现的“早响应兴奋性神经元（EREN）”，其标志是异位表达 Erbb4。再做兴奋性神经元特异敲除/过表达。</a:t>
            </a:r>
          </a:p>
        </p:txBody>
      </p:sp>
      <p:sp>
        <p:nvSpPr>
          <p:cNvPr id="14" name="Rounded Rectangle 13"/>
          <p:cNvSpPr/>
          <p:nvPr/>
        </p:nvSpPr>
        <p:spPr>
          <a:xfrm>
            <a:off x="292608" y="3822191"/>
            <a:ext cx="5623560" cy="178308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 y="3877056"/>
            <a:ext cx="5367528" cy="256032"/>
          </a:xfrm>
          <a:prstGeom prst="rect">
            <a:avLst/>
          </a:prstGeom>
          <a:noFill/>
        </p:spPr>
        <p:txBody>
          <a:bodyPr wrap="square"/>
          <a:lstStyle/>
          <a:p>
            <a:pPr algn="l">
              <a:spcBef>
                <a:spcPts val="0"/>
              </a:spcBef>
              <a:spcAft>
                <a:spcPts val="0"/>
              </a:spcAft>
            </a:pPr>
            <a:r>
              <a:rPr sz="1200" b="1">
                <a:solidFill>
                  <a:srgbClr val="C41E3A"/>
                </a:solidFill>
                <a:latin typeface="WenQuanYi Micro Hei"/>
                <a:ea typeface="WenQuanYi Micro Hei"/>
                <a:cs typeface="WenQuanYi Micro Hei"/>
              </a:rPr>
              <a:t>关键结论</a:t>
            </a:r>
          </a:p>
        </p:txBody>
      </p:sp>
      <p:sp>
        <p:nvSpPr>
          <p:cNvPr id="16" name="TextBox 15"/>
          <p:cNvSpPr txBox="1"/>
          <p:nvPr/>
        </p:nvSpPr>
        <p:spPr>
          <a:xfrm>
            <a:off x="402336" y="4133087"/>
            <a:ext cx="5404104" cy="1389888"/>
          </a:xfrm>
          <a:prstGeom prst="rect">
            <a:avLst/>
          </a:prstGeom>
          <a:noFill/>
        </p:spPr>
        <p:txBody>
          <a:bodyPr wrap="square">
            <a:spAutoFit/>
          </a:bodyPr>
          <a:lstStyle/>
          <a:p>
            <a:pPr algn="l">
              <a:spcAft>
                <a:spcPts val="600"/>
              </a:spcAft>
            </a:pPr>
            <a:r>
              <a:rPr sz="1300" b="0">
                <a:solidFill>
                  <a:srgbClr val="1F2937"/>
                </a:solidFill>
                <a:latin typeface="WenQuanYi Micro Hei"/>
                <a:ea typeface="WenQuanYi Micro Hei"/>
                <a:cs typeface="WenQuanYi Micro Hei"/>
              </a:rPr>
              <a:t>•  星形胶质/小胶质增加清除兴奋性突触、减少清除抑制性突触；单有神经炎症不足以解释早期突触丢失。</a:t>
            </a:r>
          </a:p>
          <a:p>
            <a:pPr algn="l">
              <a:spcAft>
                <a:spcPts val="600"/>
              </a:spcAft>
            </a:pPr>
            <a:r>
              <a:rPr sz="1300" b="0">
                <a:solidFill>
                  <a:srgbClr val="1F2937"/>
                </a:solidFill>
                <a:latin typeface="WenQuanYi Micro Hei"/>
                <a:ea typeface="WenQuanYi Micro Hei"/>
                <a:cs typeface="WenQuanYi Micro Hei"/>
              </a:rPr>
              <a:t>•  兴奋性神经元敲除 Erbb4：网络活动、突触平衡、胶质增生、淀粉样斑块和认知都改善。</a:t>
            </a:r>
          </a:p>
          <a:p>
            <a:pPr algn="l">
              <a:spcAft>
                <a:spcPts val="600"/>
              </a:spcAft>
            </a:pPr>
            <a:r>
              <a:rPr sz="1300" b="0">
                <a:solidFill>
                  <a:srgbClr val="1F2937"/>
                </a:solidFill>
                <a:latin typeface="WenQuanYi Micro Hei"/>
                <a:ea typeface="WenQuanYi Micro Hei"/>
                <a:cs typeface="WenQuanYi Micro Hei"/>
              </a:rPr>
              <a:t>•  野生型里过表达 Erbb4 即可重现核心 AD 样表型，且不需要斑块；下游依赖 mTOR。人转录组中介分析支持 ERBB4 连接淀粉样→tau→认知下降。</a:t>
            </a:r>
          </a:p>
        </p:txBody>
      </p:sp>
      <p:sp>
        <p:nvSpPr>
          <p:cNvPr id="17" name="TextBox 16"/>
          <p:cNvSpPr txBox="1"/>
          <p:nvPr/>
        </p:nvSpPr>
        <p:spPr>
          <a:xfrm>
            <a:off x="292608" y="5650992"/>
            <a:ext cx="5623560" cy="841248"/>
          </a:xfrm>
          <a:prstGeom prst="rect">
            <a:avLst/>
          </a:prstGeom>
          <a:noFill/>
        </p:spPr>
        <p:txBody>
          <a:bodyPr wrap="square"/>
          <a:lstStyle/>
          <a:p>
            <a:pPr algn="l">
              <a:spcBef>
                <a:spcPts val="0"/>
              </a:spcBef>
              <a:spcAft>
                <a:spcPts val="0"/>
              </a:spcAft>
            </a:pPr>
            <a:r>
              <a:rPr sz="1000" b="0">
                <a:solidFill>
                  <a:srgbClr val="4B5563"/>
                </a:solidFill>
                <a:latin typeface="WenQuanYi Micro Hei"/>
                <a:ea typeface="WenQuanYi Micro Hei"/>
                <a:cs typeface="WenQuanYi Micro Hei"/>
              </a:rPr>
              <a:t>Se Young Lee, Won-Suk Chung 等  ·  KAIST
Nature 658, 725 附近 (2026)  ·  DOI: 10.1038/s41586-026-10964-z</a:t>
            </a:r>
          </a:p>
        </p:txBody>
      </p:sp>
      <p:sp>
        <p:nvSpPr>
          <p:cNvPr id="18" name="Rounded Rectangle 17"/>
          <p:cNvSpPr/>
          <p:nvPr/>
        </p:nvSpPr>
        <p:spPr>
          <a:xfrm>
            <a:off x="6053328" y="1115568"/>
            <a:ext cx="5833872" cy="5349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9632" y="1170432"/>
            <a:ext cx="5559552" cy="256032"/>
          </a:xfrm>
          <a:prstGeom prst="rect">
            <a:avLst/>
          </a:prstGeom>
          <a:noFill/>
        </p:spPr>
        <p:txBody>
          <a:bodyPr wrap="square"/>
          <a:lstStyle/>
          <a:p>
            <a:pPr algn="l">
              <a:spcBef>
                <a:spcPts val="0"/>
              </a:spcBef>
              <a:spcAft>
                <a:spcPts val="0"/>
              </a:spcAft>
            </a:pPr>
            <a:r>
              <a:rPr sz="1100" b="1">
                <a:solidFill>
                  <a:srgbClr val="4B5563"/>
                </a:solidFill>
                <a:latin typeface="WenQuanYi Micro Hei"/>
                <a:ea typeface="WenQuanYi Micro Hei"/>
                <a:cs typeface="WenQuanYi Micro Hei"/>
              </a:rPr>
              <a:t>主图  Figure 1（来源：Nature）</a:t>
            </a:r>
          </a:p>
        </p:txBody>
      </p:sp>
      <p:pic>
        <p:nvPicPr>
          <p:cNvPr id="20" name="Picture 19" descr="erbb4_fig1.png"/>
          <p:cNvPicPr>
            <a:picLocks noChangeAspect="1"/>
          </p:cNvPicPr>
          <p:nvPr/>
        </p:nvPicPr>
        <p:blipFill>
          <a:blip r:embed="rId2"/>
          <a:stretch>
            <a:fillRect/>
          </a:stretch>
        </p:blipFill>
        <p:spPr>
          <a:xfrm>
            <a:off x="6163056" y="2156129"/>
            <a:ext cx="5614416" cy="3469285"/>
          </a:xfrm>
          <a:prstGeom prst="rect">
            <a:avLst/>
          </a:prstGeom>
        </p:spPr>
      </p:pic>
      <p:sp>
        <p:nvSpPr>
          <p:cNvPr id="21" name="Rectangle 20"/>
          <p:cNvSpPr/>
          <p:nvPr/>
        </p:nvSpPr>
        <p:spPr>
          <a:xfrm>
            <a:off x="0" y="6601968"/>
            <a:ext cx="12191695" cy="25603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601968"/>
            <a:ext cx="8229600" cy="256032"/>
          </a:xfrm>
          <a:prstGeom prst="rect">
            <a:avLst/>
          </a:prstGeom>
          <a:noFill/>
        </p:spPr>
        <p:txBody>
          <a:bodyPr wrap="square"/>
          <a:lstStyle/>
          <a:p>
            <a:pPr algn="l">
              <a:spcBef>
                <a:spcPts val="0"/>
              </a:spcBef>
              <a:spcAft>
                <a:spcPts val="0"/>
              </a:spcAft>
            </a:pPr>
            <a:r>
              <a:rPr sz="1000" b="0">
                <a:solidFill>
                  <a:srgbClr val="FFFFFF"/>
                </a:solidFill>
                <a:latin typeface="WenQuanYi Micro Hei"/>
                <a:ea typeface="WenQuanYi Micro Hei"/>
                <a:cs typeface="WenQuanYi Micro Hei"/>
              </a:rPr>
              <a:t>CNS 三大主刊 2026.10.15 ｜生物医学文献汇报（一文一页）</a:t>
            </a:r>
          </a:p>
        </p:txBody>
      </p:sp>
      <p:sp>
        <p:nvSpPr>
          <p:cNvPr id="23" name="TextBox 22"/>
          <p:cNvSpPr txBox="1"/>
          <p:nvPr/>
        </p:nvSpPr>
        <p:spPr>
          <a:xfrm>
            <a:off x="9692640" y="6601968"/>
            <a:ext cx="2194560" cy="256032"/>
          </a:xfrm>
          <a:prstGeom prst="rect">
            <a:avLst/>
          </a:prstGeom>
          <a:noFill/>
        </p:spPr>
        <p:txBody>
          <a:bodyPr wrap="square"/>
          <a:lstStyle/>
          <a:p>
            <a:pPr algn="r">
              <a:spcBef>
                <a:spcPts val="0"/>
              </a:spcBef>
              <a:spcAft>
                <a:spcPts val="0"/>
              </a:spcAft>
            </a:pPr>
            <a:r>
              <a:rPr sz="1000" b="0">
                <a:solidFill>
                  <a:srgbClr val="FFFFFF"/>
                </a:solidFill>
                <a:latin typeface="WenQuanYi Micro Hei"/>
                <a:ea typeface="WenQuanYi Micro Hei"/>
                <a:cs typeface="WenQuanYi Micro Hei"/>
              </a:rPr>
              <a:t>11 / 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8755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292608" y="201168"/>
            <a:ext cx="1234440" cy="310896"/>
          </a:xfrm>
          <a:prstGeom prst="roundRect">
            <a:avLst>
              <a:gd name="adj" fmla="val 12000"/>
            </a:avLst>
          </a:prstGeom>
          <a:solidFill>
            <a:srgbClr val="003D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201168"/>
            <a:ext cx="1234440" cy="310896"/>
          </a:xfrm>
          <a:prstGeom prst="rect">
            <a:avLst/>
          </a:prstGeom>
          <a:noFill/>
        </p:spPr>
        <p:txBody>
          <a:bodyPr wrap="square"/>
          <a:lstStyle/>
          <a:p>
            <a:pPr algn="ctr">
              <a:spcBef>
                <a:spcPts val="0"/>
              </a:spcBef>
              <a:spcAft>
                <a:spcPts val="0"/>
              </a:spcAft>
            </a:pPr>
            <a:r>
              <a:rPr sz="1200" b="1">
                <a:solidFill>
                  <a:srgbClr val="FFFFFF"/>
                </a:solidFill>
                <a:latin typeface="WenQuanYi Micro Hei"/>
                <a:ea typeface="WenQuanYi Micro Hei"/>
                <a:cs typeface="WenQuanYi Micro Hei"/>
              </a:rPr>
              <a:t>Science</a:t>
            </a:r>
          </a:p>
        </p:txBody>
      </p:sp>
      <p:sp>
        <p:nvSpPr>
          <p:cNvPr id="6" name="TextBox 5"/>
          <p:cNvSpPr txBox="1"/>
          <p:nvPr/>
        </p:nvSpPr>
        <p:spPr>
          <a:xfrm>
            <a:off x="1645920" y="128016"/>
            <a:ext cx="10241280" cy="384048"/>
          </a:xfrm>
          <a:prstGeom prst="rect">
            <a:avLst/>
          </a:prstGeom>
          <a:noFill/>
        </p:spPr>
        <p:txBody>
          <a:bodyPr wrap="square"/>
          <a:lstStyle/>
          <a:p>
            <a:pPr algn="l">
              <a:spcBef>
                <a:spcPts val="0"/>
              </a:spcBef>
              <a:spcAft>
                <a:spcPts val="0"/>
              </a:spcAft>
            </a:pPr>
            <a:r>
              <a:rPr sz="1800" b="1">
                <a:solidFill>
                  <a:srgbClr val="FFFFFF"/>
                </a:solidFill>
                <a:latin typeface="WenQuanYi Micro Hei"/>
                <a:ea typeface="WenQuanYi Micro Hei"/>
                <a:cs typeface="WenQuanYi Micro Hei"/>
              </a:rPr>
              <a:t>灵活决策的细胞计算：顶端树突编码抽象规则，胞体编码感觉</a:t>
            </a:r>
          </a:p>
        </p:txBody>
      </p:sp>
      <p:sp>
        <p:nvSpPr>
          <p:cNvPr id="7" name="TextBox 6"/>
          <p:cNvSpPr txBox="1"/>
          <p:nvPr/>
        </p:nvSpPr>
        <p:spPr>
          <a:xfrm>
            <a:off x="1645920" y="512064"/>
            <a:ext cx="10241280" cy="384048"/>
          </a:xfrm>
          <a:prstGeom prst="rect">
            <a:avLst/>
          </a:prstGeom>
          <a:noFill/>
        </p:spPr>
        <p:txBody>
          <a:bodyPr wrap="square"/>
          <a:lstStyle/>
          <a:p>
            <a:pPr algn="l">
              <a:spcBef>
                <a:spcPts val="0"/>
              </a:spcBef>
              <a:spcAft>
                <a:spcPts val="0"/>
              </a:spcAft>
            </a:pPr>
            <a:r>
              <a:rPr sz="1100" b="0">
                <a:solidFill>
                  <a:srgbClr val="D0DCE8"/>
                </a:solidFill>
                <a:latin typeface="WenQuanYi Micro Hei"/>
                <a:ea typeface="WenQuanYi Micro Hei"/>
                <a:cs typeface="WenQuanYi Micro Hei"/>
              </a:rPr>
              <a:t>Dendritic computation for abstract rule-based flexible decision-making  ·  Zhang / Xu</a:t>
            </a:r>
          </a:p>
        </p:txBody>
      </p:sp>
      <p:sp>
        <p:nvSpPr>
          <p:cNvPr id="8" name="Rounded Rectangle 7"/>
          <p:cNvSpPr/>
          <p:nvPr/>
        </p:nvSpPr>
        <p:spPr>
          <a:xfrm>
            <a:off x="292608" y="1115568"/>
            <a:ext cx="5623560" cy="1078992"/>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 y="1188720"/>
            <a:ext cx="5367528" cy="256032"/>
          </a:xfrm>
          <a:prstGeom prst="rect">
            <a:avLst/>
          </a:prstGeom>
          <a:noFill/>
        </p:spPr>
        <p:txBody>
          <a:bodyPr wrap="square"/>
          <a:lstStyle/>
          <a:p>
            <a:pPr algn="l">
              <a:spcBef>
                <a:spcPts val="0"/>
              </a:spcBef>
              <a:spcAft>
                <a:spcPts val="0"/>
              </a:spcAft>
            </a:pPr>
            <a:r>
              <a:rPr sz="1200" b="1">
                <a:solidFill>
                  <a:srgbClr val="003D7A"/>
                </a:solidFill>
                <a:latin typeface="WenQuanYi Micro Hei"/>
                <a:ea typeface="WenQuanYi Micro Hei"/>
                <a:cs typeface="WenQuanYi Micro Hei"/>
              </a:rPr>
              <a:t>解决什么问题</a:t>
            </a:r>
          </a:p>
        </p:txBody>
      </p:sp>
      <p:sp>
        <p:nvSpPr>
          <p:cNvPr id="10" name="TextBox 9"/>
          <p:cNvSpPr txBox="1"/>
          <p:nvPr/>
        </p:nvSpPr>
        <p:spPr>
          <a:xfrm>
            <a:off x="438912" y="1444752"/>
            <a:ext cx="5367528" cy="676656"/>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智能行为要把感觉输入和不断变化的抽象规则整合。树突计算已知参与感觉的自上而下调制，但有没有直接证据表明它参与灵活认知决策？</a:t>
            </a:r>
          </a:p>
        </p:txBody>
      </p:sp>
      <p:sp>
        <p:nvSpPr>
          <p:cNvPr id="11" name="Rounded Rectangle 10"/>
          <p:cNvSpPr/>
          <p:nvPr/>
        </p:nvSpPr>
        <p:spPr>
          <a:xfrm>
            <a:off x="292608" y="2304288"/>
            <a:ext cx="5623560" cy="14173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2359152"/>
            <a:ext cx="5367528" cy="256032"/>
          </a:xfrm>
          <a:prstGeom prst="rect">
            <a:avLst/>
          </a:prstGeom>
          <a:noFill/>
        </p:spPr>
        <p:txBody>
          <a:bodyPr wrap="square"/>
          <a:lstStyle/>
          <a:p>
            <a:pPr algn="l">
              <a:spcBef>
                <a:spcPts val="0"/>
              </a:spcBef>
              <a:spcAft>
                <a:spcPts val="0"/>
              </a:spcAft>
            </a:pPr>
            <a:r>
              <a:rPr sz="1200" b="1">
                <a:solidFill>
                  <a:srgbClr val="003D7A"/>
                </a:solidFill>
                <a:latin typeface="WenQuanYi Micro Hei"/>
                <a:ea typeface="WenQuanYi Micro Hei"/>
                <a:cs typeface="WenQuanYi Micro Hei"/>
              </a:rPr>
              <a:t>做了什么</a:t>
            </a:r>
          </a:p>
        </p:txBody>
      </p:sp>
      <p:sp>
        <p:nvSpPr>
          <p:cNvPr id="13" name="TextBox 12"/>
          <p:cNvSpPr txBox="1"/>
          <p:nvPr/>
        </p:nvSpPr>
        <p:spPr>
          <a:xfrm>
            <a:off x="438912" y="2615184"/>
            <a:ext cx="5367528" cy="1024128"/>
          </a:xfrm>
          <a:prstGeom prst="rect">
            <a:avLst/>
          </a:prstGeom>
          <a:noFill/>
        </p:spPr>
        <p:txBody>
          <a:bodyPr wrap="square"/>
          <a:lstStyle/>
          <a:p>
            <a:pPr algn="l">
              <a:spcBef>
                <a:spcPts val="0"/>
              </a:spcBef>
              <a:spcAft>
                <a:spcPts val="0"/>
              </a:spcAft>
            </a:pPr>
            <a:r>
              <a:rPr sz="1300" b="0">
                <a:solidFill>
                  <a:srgbClr val="1F2937"/>
                </a:solidFill>
                <a:latin typeface="WenQuanYi Micro Hei"/>
                <a:ea typeface="WenQuanYi Micro Hei"/>
                <a:cs typeface="WenQuanYi Micro Hei"/>
              </a:rPr>
              <a:t>训练小鼠做规则切换的听觉灵活分类，用双光子成像同步记录听皮层 L5 端脑外投射（ET）神经元的顶端树突与胞体，再用光遗传抑制树突做因果检验。</a:t>
            </a:r>
          </a:p>
        </p:txBody>
      </p:sp>
      <p:sp>
        <p:nvSpPr>
          <p:cNvPr id="14" name="Rounded Rectangle 13"/>
          <p:cNvSpPr/>
          <p:nvPr/>
        </p:nvSpPr>
        <p:spPr>
          <a:xfrm>
            <a:off x="292608" y="3822191"/>
            <a:ext cx="5623560" cy="178308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 y="3877056"/>
            <a:ext cx="5367528" cy="256032"/>
          </a:xfrm>
          <a:prstGeom prst="rect">
            <a:avLst/>
          </a:prstGeom>
          <a:noFill/>
        </p:spPr>
        <p:txBody>
          <a:bodyPr wrap="square"/>
          <a:lstStyle/>
          <a:p>
            <a:pPr algn="l">
              <a:spcBef>
                <a:spcPts val="0"/>
              </a:spcBef>
              <a:spcAft>
                <a:spcPts val="0"/>
              </a:spcAft>
            </a:pPr>
            <a:r>
              <a:rPr sz="1200" b="1">
                <a:solidFill>
                  <a:srgbClr val="003D7A"/>
                </a:solidFill>
                <a:latin typeface="WenQuanYi Micro Hei"/>
                <a:ea typeface="WenQuanYi Micro Hei"/>
                <a:cs typeface="WenQuanYi Micro Hei"/>
              </a:rPr>
              <a:t>关键结论</a:t>
            </a:r>
          </a:p>
        </p:txBody>
      </p:sp>
      <p:sp>
        <p:nvSpPr>
          <p:cNvPr id="16" name="TextBox 15"/>
          <p:cNvSpPr txBox="1"/>
          <p:nvPr/>
        </p:nvSpPr>
        <p:spPr>
          <a:xfrm>
            <a:off x="402336" y="4133087"/>
            <a:ext cx="5404104" cy="1389888"/>
          </a:xfrm>
          <a:prstGeom prst="rect">
            <a:avLst/>
          </a:prstGeom>
          <a:noFill/>
        </p:spPr>
        <p:txBody>
          <a:bodyPr wrap="square">
            <a:spAutoFit/>
          </a:bodyPr>
          <a:lstStyle/>
          <a:p>
            <a:pPr algn="l">
              <a:spcAft>
                <a:spcPts val="600"/>
              </a:spcAft>
            </a:pPr>
            <a:r>
              <a:rPr sz="1300" b="0">
                <a:solidFill>
                  <a:srgbClr val="1F2937"/>
                </a:solidFill>
                <a:latin typeface="WenQuanYi Micro Hei"/>
                <a:ea typeface="WenQuanYi Micro Hei"/>
                <a:cs typeface="WenQuanYi Micro Hei"/>
              </a:rPr>
              <a:t>•  同一神经元内功能分区：树突优先编码推断规则，胞体优先表征感觉；选择信号两边都有。</a:t>
            </a:r>
          </a:p>
          <a:p>
            <a:pPr algn="l">
              <a:spcAft>
                <a:spcPts val="600"/>
              </a:spcAft>
            </a:pPr>
            <a:r>
              <a:rPr sz="1300" b="0">
                <a:solidFill>
                  <a:srgbClr val="1F2937"/>
                </a:solidFill>
                <a:latin typeface="WenQuanYi Micro Hei"/>
                <a:ea typeface="WenQuanYi Micro Hei"/>
                <a:cs typeface="WenQuanYi Micro Hei"/>
              </a:rPr>
              <a:t>•  抑制树突会损害胞体上规则依赖的选择编码，证明跨区室整合是任务必需的。</a:t>
            </a:r>
          </a:p>
          <a:p>
            <a:pPr algn="l">
              <a:spcAft>
                <a:spcPts val="600"/>
              </a:spcAft>
            </a:pPr>
            <a:r>
              <a:rPr sz="1300" b="0">
                <a:solidFill>
                  <a:srgbClr val="1F2937"/>
                </a:solidFill>
                <a:latin typeface="WenQuanYi Micro Hei"/>
                <a:ea typeface="WenQuanYi Micro Hei"/>
                <a:cs typeface="WenQuanYi Micro Hei"/>
              </a:rPr>
              <a:t>•  单个皮层神经元内部就能完成“规则 × 感觉 → 选择”，把树突双区室模型从感觉运动拓展到抽象认知。</a:t>
            </a:r>
          </a:p>
        </p:txBody>
      </p:sp>
      <p:sp>
        <p:nvSpPr>
          <p:cNvPr id="17" name="TextBox 16"/>
          <p:cNvSpPr txBox="1"/>
          <p:nvPr/>
        </p:nvSpPr>
        <p:spPr>
          <a:xfrm>
            <a:off x="292608" y="5650992"/>
            <a:ext cx="5623560" cy="841248"/>
          </a:xfrm>
          <a:prstGeom prst="rect">
            <a:avLst/>
          </a:prstGeom>
          <a:noFill/>
        </p:spPr>
        <p:txBody>
          <a:bodyPr wrap="square"/>
          <a:lstStyle/>
          <a:p>
            <a:pPr algn="l">
              <a:spcBef>
                <a:spcPts val="0"/>
              </a:spcBef>
              <a:spcAft>
                <a:spcPts val="0"/>
              </a:spcAft>
            </a:pPr>
            <a:r>
              <a:rPr sz="1000" b="0">
                <a:solidFill>
                  <a:srgbClr val="4B5563"/>
                </a:solidFill>
                <a:latin typeface="WenQuanYi Micro Hei"/>
                <a:ea typeface="WenQuanYi Micro Hei"/>
                <a:cs typeface="WenQuanYi Micro Hei"/>
              </a:rPr>
              <a:t>张园、徐宁龙 等  ·  中科院脑智卓越中心
Science 394, 287 (2026)  ·  DOI: 10.1126/science.adz5323</a:t>
            </a:r>
          </a:p>
        </p:txBody>
      </p:sp>
      <p:sp>
        <p:nvSpPr>
          <p:cNvPr id="18" name="Rounded Rectangle 17"/>
          <p:cNvSpPr/>
          <p:nvPr/>
        </p:nvSpPr>
        <p:spPr>
          <a:xfrm>
            <a:off x="6053328" y="1115568"/>
            <a:ext cx="5833872" cy="5349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9632" y="1170432"/>
            <a:ext cx="5559552" cy="256032"/>
          </a:xfrm>
          <a:prstGeom prst="rect">
            <a:avLst/>
          </a:prstGeom>
          <a:noFill/>
        </p:spPr>
        <p:txBody>
          <a:bodyPr wrap="square"/>
          <a:lstStyle/>
          <a:p>
            <a:pPr algn="l">
              <a:spcBef>
                <a:spcPts val="0"/>
              </a:spcBef>
              <a:spcAft>
                <a:spcPts val="0"/>
              </a:spcAft>
            </a:pPr>
            <a:r>
              <a:rPr sz="1100" b="1">
                <a:solidFill>
                  <a:srgbClr val="4B5563"/>
                </a:solidFill>
                <a:latin typeface="WenQuanYi Micro Hei"/>
                <a:ea typeface="WenQuanYi Micro Hei"/>
                <a:cs typeface="WenQuanYi Micro Hei"/>
              </a:rPr>
              <a:t>主图  按原文核心结论重绘的机制示意图（Science 原图因版权墙未能下载）</a:t>
            </a:r>
          </a:p>
        </p:txBody>
      </p:sp>
      <p:pic>
        <p:nvPicPr>
          <p:cNvPr id="20" name="Picture 19" descr="dend_scheme.png"/>
          <p:cNvPicPr>
            <a:picLocks noChangeAspect="1"/>
          </p:cNvPicPr>
          <p:nvPr/>
        </p:nvPicPr>
        <p:blipFill>
          <a:blip r:embed="rId2"/>
          <a:stretch>
            <a:fillRect/>
          </a:stretch>
        </p:blipFill>
        <p:spPr>
          <a:xfrm>
            <a:off x="6163056" y="1960816"/>
            <a:ext cx="5614416" cy="3859911"/>
          </a:xfrm>
          <a:prstGeom prst="rect">
            <a:avLst/>
          </a:prstGeom>
        </p:spPr>
      </p:pic>
      <p:sp>
        <p:nvSpPr>
          <p:cNvPr id="21" name="Rectangle 20"/>
          <p:cNvSpPr/>
          <p:nvPr/>
        </p:nvSpPr>
        <p:spPr>
          <a:xfrm>
            <a:off x="0" y="6601968"/>
            <a:ext cx="12191695" cy="256032"/>
          </a:xfrm>
          <a:prstGeom prst="rect">
            <a:avLst/>
          </a:prstGeom>
          <a:solidFill>
            <a:srgbClr val="142B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601968"/>
            <a:ext cx="8229600" cy="256032"/>
          </a:xfrm>
          <a:prstGeom prst="rect">
            <a:avLst/>
          </a:prstGeom>
          <a:noFill/>
        </p:spPr>
        <p:txBody>
          <a:bodyPr wrap="square"/>
          <a:lstStyle/>
          <a:p>
            <a:pPr algn="l">
              <a:spcBef>
                <a:spcPts val="0"/>
              </a:spcBef>
              <a:spcAft>
                <a:spcPts val="0"/>
              </a:spcAft>
            </a:pPr>
            <a:r>
              <a:rPr sz="1000" b="0">
                <a:solidFill>
                  <a:srgbClr val="FFFFFF"/>
                </a:solidFill>
                <a:latin typeface="WenQuanYi Micro Hei"/>
                <a:ea typeface="WenQuanYi Micro Hei"/>
                <a:cs typeface="WenQuanYi Micro Hei"/>
              </a:rPr>
              <a:t>CNS 三大主刊 2026.10.15 ｜生物医学文献汇报（一文一页）</a:t>
            </a:r>
          </a:p>
        </p:txBody>
      </p:sp>
      <p:sp>
        <p:nvSpPr>
          <p:cNvPr id="23" name="TextBox 22"/>
          <p:cNvSpPr txBox="1"/>
          <p:nvPr/>
        </p:nvSpPr>
        <p:spPr>
          <a:xfrm>
            <a:off x="9692640" y="6601968"/>
            <a:ext cx="2194560" cy="256032"/>
          </a:xfrm>
          <a:prstGeom prst="rect">
            <a:avLst/>
          </a:prstGeom>
          <a:noFill/>
        </p:spPr>
        <p:txBody>
          <a:bodyPr wrap="square"/>
          <a:lstStyle/>
          <a:p>
            <a:pPr algn="r">
              <a:spcBef>
                <a:spcPts val="0"/>
              </a:spcBef>
              <a:spcAft>
                <a:spcPts val="0"/>
              </a:spcAft>
            </a:pPr>
            <a:r>
              <a:rPr sz="1000" b="0">
                <a:solidFill>
                  <a:srgbClr val="FFFFFF"/>
                </a:solidFill>
                <a:latin typeface="WenQuanYi Micro Hei"/>
                <a:ea typeface="WenQuanYi Micro Hei"/>
                <a:cs typeface="WenQuanYi Micro Hei"/>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